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1pPr>
    <a:lvl2pPr marL="0" marR="0" indent="4572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2pPr>
    <a:lvl3pPr marL="0" marR="0" indent="9144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3pPr>
    <a:lvl4pPr marL="0" marR="0" indent="13716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4pPr>
    <a:lvl5pPr marL="0" marR="0" indent="18288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5pPr>
    <a:lvl6pPr marL="0" marR="0" indent="22860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6pPr>
    <a:lvl7pPr marL="0" marR="0" indent="27432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7pPr>
    <a:lvl8pPr marL="0" marR="0" indent="32004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8pPr>
    <a:lvl9pPr marL="0" marR="0" indent="36576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759917-D9C1-0C6E-C3A3-198F08D29CB7}" v="110" dt="2025-11-09T21:43:56.349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Graphik"/>
          <a:ea typeface="Graphik"/>
          <a:cs typeface="Graphik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929292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381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381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381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Graphik"/>
          <a:ea typeface="Graphik"/>
          <a:cs typeface="Graphik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929292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381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381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rgbClr val="0C768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raphik"/>
          <a:ea typeface="Graphik"/>
          <a:cs typeface="Graphik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929292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rgbClr val="537F67"/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38100" cap="flat">
              <a:solidFill>
                <a:srgbClr val="537F67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rgbClr val="008728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97492"/>
              <a:satOff val="-3125"/>
              <a:lumOff val="27021"/>
            </a:schemeClr>
          </a:solidFill>
        </a:fill>
      </a:tcStyle>
    </a:wholeTbl>
    <a:band2H>
      <a:tcTxStyle/>
      <a:tcStyle>
        <a:tcBdr/>
        <a:fill>
          <a:solidFill>
            <a:srgbClr val="FFFB00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-410732"/>
            </a:schemeClr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38100" cap="flat">
              <a:solidFill>
                <a:schemeClr val="accent4">
                  <a:hueOff val="-410732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97492"/>
              <a:satOff val="-3125"/>
              <a:lumOff val="27021"/>
            </a:schemeClr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-737021"/>
            </a:schemeClr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raphik"/>
          <a:ea typeface="Graphik"/>
          <a:cs typeface="Graphik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F9DFE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114748"/>
              <a:satOff val="1446"/>
              <a:lumOff val="-8963"/>
            </a:schemeClr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38100" cap="flat">
              <a:solidFill>
                <a:schemeClr val="accent6">
                  <a:hueOff val="114748"/>
                  <a:satOff val="1446"/>
                  <a:lumOff val="-896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chemeClr val="accent6">
              <a:satOff val="-21357"/>
              <a:lumOff val="-20662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raphik"/>
          <a:ea typeface="Graphik"/>
          <a:cs typeface="Graphik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929292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381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381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rgbClr val="5E5E5E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12268782"/>
            <a:ext cx="21971000" cy="660401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r>
              <a:t>Author and Date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357839"/>
            <a:ext cx="21971000" cy="2006601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2621719"/>
            <a:ext cx="21971000" cy="4648201"/>
          </a:xfrm>
          <a:prstGeom prst="rect">
            <a:avLst/>
          </a:prstGeom>
        </p:spPr>
        <p:txBody>
          <a:bodyPr anchor="b"/>
          <a:lstStyle>
            <a:lvl1pPr defTabSz="355600">
              <a:defRPr sz="12000" spc="-119"/>
            </a:lvl1pPr>
          </a:lstStyle>
          <a:p>
            <a:r>
              <a:t>Presentation Title</a:t>
            </a:r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eometric grey stone architecture"/>
          <p:cNvSpPr>
            <a:spLocks noGrp="1"/>
          </p:cNvSpPr>
          <p:nvPr>
            <p:ph type="pic" idx="21"/>
          </p:nvPr>
        </p:nvSpPr>
        <p:spPr>
          <a:xfrm>
            <a:off x="0" y="-4381500"/>
            <a:ext cx="24384001" cy="1828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6500" y="12268200"/>
            <a:ext cx="21971000" cy="660400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r>
              <a:t>Author and Date</a:t>
            </a:r>
          </a:p>
        </p:txBody>
      </p:sp>
      <p:sp>
        <p:nvSpPr>
          <p:cNvPr id="2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4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2611945"/>
            <a:ext cx="21971000" cy="4648201"/>
          </a:xfrm>
          <a:prstGeom prst="rect">
            <a:avLst/>
          </a:prstGeom>
        </p:spPr>
        <p:txBody>
          <a:bodyPr anchor="b"/>
          <a:lstStyle>
            <a:lvl1pPr defTabSz="355600">
              <a:defRPr sz="12000" spc="-119"/>
            </a:lvl1pPr>
          </a:lstStyle>
          <a:p>
            <a:r>
              <a:t>Presentation Title</a:t>
            </a:r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eometric grey stone architecture"/>
          <p:cNvSpPr>
            <a:spLocks noGrp="1"/>
          </p:cNvSpPr>
          <p:nvPr>
            <p:ph type="pic" idx="21"/>
          </p:nvPr>
        </p:nvSpPr>
        <p:spPr>
          <a:xfrm>
            <a:off x="5707496" y="-660400"/>
            <a:ext cx="20053301" cy="1504209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3335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1494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61" name="Angular stone architecture in light and shadow"/>
          <p:cNvSpPr>
            <a:spLocks noGrp="1"/>
          </p:cNvSpPr>
          <p:nvPr>
            <p:ph type="pic" idx="22"/>
          </p:nvPr>
        </p:nvSpPr>
        <p:spPr>
          <a:xfrm>
            <a:off x="12382500" y="0"/>
            <a:ext cx="21945600" cy="13716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3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58500" y="12483845"/>
            <a:ext cx="361188" cy="40411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7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8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3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3906899"/>
            <a:ext cx="21971004" cy="4648201"/>
          </a:xfrm>
          <a:prstGeom prst="rect">
            <a:avLst/>
          </a:prstGeom>
        </p:spPr>
        <p:txBody>
          <a:bodyPr anchor="ctr"/>
          <a:lstStyle>
            <a:lvl1pPr>
              <a:defRPr sz="12000" spc="-119"/>
            </a:lvl1pPr>
          </a:lstStyle>
          <a:p>
            <a:r>
              <a:t>Section Title</a:t>
            </a:r>
          </a:p>
        </p:txBody>
      </p:sp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10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1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r>
              <a:t>Agenda Subtitle</a:t>
            </a:r>
          </a:p>
        </p:txBody>
      </p:sp>
      <p:sp>
        <p:nvSpPr>
          <p:cNvPr id="109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6000"/>
              </a:spcBef>
              <a:buSzTx/>
              <a:buNone/>
              <a:defRPr sz="5000"/>
            </a:lvl1pPr>
            <a:lvl2pPr marL="0" indent="457200" defTabSz="825500">
              <a:spcBef>
                <a:spcPts val="6000"/>
              </a:spcBef>
              <a:buSzTx/>
              <a:buNone/>
              <a:defRPr sz="5000"/>
            </a:lvl2pPr>
            <a:lvl3pPr marL="0" indent="914400" defTabSz="825500">
              <a:spcBef>
                <a:spcPts val="6000"/>
              </a:spcBef>
              <a:buSzTx/>
              <a:buNone/>
              <a:defRPr sz="5000"/>
            </a:lvl3pPr>
            <a:lvl4pPr marL="0" indent="1371600" defTabSz="825500">
              <a:spcBef>
                <a:spcPts val="6000"/>
              </a:spcBef>
              <a:buSzTx/>
              <a:buNone/>
              <a:defRPr sz="5000"/>
            </a:lvl4pPr>
            <a:lvl5pPr marL="0" indent="1828800" defTabSz="825500">
              <a:spcBef>
                <a:spcPts val="6000"/>
              </a:spcBef>
              <a:buSzTx/>
              <a:buNone/>
              <a:defRPr sz="5000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0" name="Agenda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191000"/>
            <a:ext cx="21971000" cy="408940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SzTx/>
              <a:buNone/>
              <a:defRPr sz="12000" spc="-119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>
              <a:lnSpc>
                <a:spcPct val="90000"/>
              </a:lnSpc>
              <a:spcBef>
                <a:spcPts val="0"/>
              </a:spcBef>
              <a:buSzTx/>
              <a:buNone/>
              <a:defRPr sz="12000" spc="-119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>
              <a:lnSpc>
                <a:spcPct val="90000"/>
              </a:lnSpc>
              <a:spcBef>
                <a:spcPts val="0"/>
              </a:spcBef>
              <a:buSzTx/>
              <a:buNone/>
              <a:defRPr sz="12000" spc="-119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>
              <a:lnSpc>
                <a:spcPct val="90000"/>
              </a:lnSpc>
              <a:spcBef>
                <a:spcPts val="0"/>
              </a:spcBef>
              <a:buSzTx/>
              <a:buNone/>
              <a:defRPr sz="12000" spc="-119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>
              <a:lnSpc>
                <a:spcPct val="90000"/>
              </a:lnSpc>
              <a:spcBef>
                <a:spcPts val="0"/>
              </a:spcBef>
              <a:buSzTx/>
              <a:buNone/>
              <a:defRPr sz="12000" spc="-119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207360"/>
            <a:ext cx="21971000" cy="7351451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90000"/>
              </a:lnSpc>
              <a:spcBef>
                <a:spcPts val="0"/>
              </a:spcBef>
              <a:buSzTx/>
              <a:buNone/>
              <a:defRPr sz="35000" spc="-175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>
              <a:lnSpc>
                <a:spcPct val="90000"/>
              </a:lnSpc>
              <a:spcBef>
                <a:spcPts val="0"/>
              </a:spcBef>
              <a:buSzTx/>
              <a:buNone/>
              <a:defRPr sz="35000" spc="-175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>
              <a:lnSpc>
                <a:spcPct val="90000"/>
              </a:lnSpc>
              <a:spcBef>
                <a:spcPts val="0"/>
              </a:spcBef>
              <a:buSzTx/>
              <a:buNone/>
              <a:defRPr sz="35000" spc="-175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>
              <a:lnSpc>
                <a:spcPct val="90000"/>
              </a:lnSpc>
              <a:spcBef>
                <a:spcPts val="0"/>
              </a:spcBef>
              <a:buSzTx/>
              <a:buNone/>
              <a:defRPr sz="35000" spc="-175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>
              <a:lnSpc>
                <a:spcPct val="90000"/>
              </a:lnSpc>
              <a:spcBef>
                <a:spcPts val="0"/>
              </a:spcBef>
              <a:buSzTx/>
              <a:buNone/>
              <a:defRPr sz="35000" spc="-175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128000"/>
            <a:ext cx="21971000" cy="1079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90000"/>
              </a:lnSpc>
              <a:spcBef>
                <a:spcPts val="0"/>
              </a:spcBef>
              <a:buSzTx/>
              <a:buNone/>
              <a:defRPr sz="5500" spc="-55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r>
              <a:t>Fact information</a:t>
            </a: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5194300" y="4165600"/>
            <a:ext cx="13995400" cy="4428667"/>
          </a:xfrm>
          <a:prstGeom prst="rect">
            <a:avLst/>
          </a:prstGeom>
        </p:spPr>
        <p:txBody>
          <a:bodyPr anchor="b"/>
          <a:lstStyle>
            <a:lvl1pPr marL="254000" indent="-254000">
              <a:lnSpc>
                <a:spcPct val="90000"/>
              </a:lnSpc>
              <a:spcBef>
                <a:spcPts val="0"/>
              </a:spcBef>
              <a:buSzTx/>
              <a:buNone/>
              <a:defRPr sz="9300" spc="-93">
                <a:latin typeface="+mn-lt"/>
                <a:ea typeface="+mn-ea"/>
                <a:cs typeface="+mn-cs"/>
                <a:sym typeface="Produkt Extralight"/>
              </a:defRPr>
            </a:lvl1pPr>
            <a:lvl2pPr marL="254000" indent="203200">
              <a:lnSpc>
                <a:spcPct val="90000"/>
              </a:lnSpc>
              <a:spcBef>
                <a:spcPts val="0"/>
              </a:spcBef>
              <a:buSzTx/>
              <a:buNone/>
              <a:defRPr sz="9300" spc="-93">
                <a:latin typeface="+mn-lt"/>
                <a:ea typeface="+mn-ea"/>
                <a:cs typeface="+mn-cs"/>
                <a:sym typeface="Produkt Extralight"/>
              </a:defRPr>
            </a:lvl2pPr>
            <a:lvl3pPr marL="254000" indent="660400">
              <a:lnSpc>
                <a:spcPct val="90000"/>
              </a:lnSpc>
              <a:spcBef>
                <a:spcPts val="0"/>
              </a:spcBef>
              <a:buSzTx/>
              <a:buNone/>
              <a:defRPr sz="9300" spc="-93">
                <a:latin typeface="+mn-lt"/>
                <a:ea typeface="+mn-ea"/>
                <a:cs typeface="+mn-cs"/>
                <a:sym typeface="Produkt Extralight"/>
              </a:defRPr>
            </a:lvl3pPr>
            <a:lvl4pPr marL="254000" indent="1117600">
              <a:lnSpc>
                <a:spcPct val="90000"/>
              </a:lnSpc>
              <a:spcBef>
                <a:spcPts val="0"/>
              </a:spcBef>
              <a:buSzTx/>
              <a:buNone/>
              <a:defRPr sz="9300" spc="-93">
                <a:latin typeface="+mn-lt"/>
                <a:ea typeface="+mn-ea"/>
                <a:cs typeface="+mn-cs"/>
                <a:sym typeface="Produkt Extralight"/>
              </a:defRPr>
            </a:lvl4pPr>
            <a:lvl5pPr marL="254000" indent="1574800">
              <a:lnSpc>
                <a:spcPct val="90000"/>
              </a:lnSpc>
              <a:spcBef>
                <a:spcPts val="0"/>
              </a:spcBef>
              <a:buSzTx/>
              <a:buNone/>
              <a:defRPr sz="9300" spc="-93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6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5456257" y="9559997"/>
            <a:ext cx="13471486" cy="698501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36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r>
              <a:t>Attribution</a:t>
            </a:r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Wavy pink and orange architecture against a blue sky"/>
          <p:cNvSpPr>
            <a:spLocks noGrp="1"/>
          </p:cNvSpPr>
          <p:nvPr>
            <p:ph type="pic" sz="quarter" idx="21"/>
          </p:nvPr>
        </p:nvSpPr>
        <p:spPr>
          <a:xfrm>
            <a:off x="7353300" y="3632200"/>
            <a:ext cx="9677400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5" name="Low-angle view of the corner of a modern building under a clear blue sky"/>
          <p:cNvSpPr>
            <a:spLocks noGrp="1"/>
          </p:cNvSpPr>
          <p:nvPr>
            <p:ph type="pic" sz="quarter" idx="22"/>
          </p:nvPr>
        </p:nvSpPr>
        <p:spPr>
          <a:xfrm>
            <a:off x="14617700" y="3632200"/>
            <a:ext cx="9677400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6" name="Low-angle view of a stone bridge under a partly cloudy sky"/>
          <p:cNvSpPr>
            <a:spLocks noGrp="1"/>
          </p:cNvSpPr>
          <p:nvPr>
            <p:ph type="pic" sz="quarter" idx="23"/>
          </p:nvPr>
        </p:nvSpPr>
        <p:spPr>
          <a:xfrm>
            <a:off x="61386" y="3632200"/>
            <a:ext cx="9690101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Low-angle view of a modern, metal building"/>
          <p:cNvSpPr>
            <a:spLocks noGrp="1"/>
          </p:cNvSpPr>
          <p:nvPr>
            <p:ph type="pic" idx="21"/>
          </p:nvPr>
        </p:nvSpPr>
        <p:spPr>
          <a:xfrm>
            <a:off x="-38100" y="-1295400"/>
            <a:ext cx="24447500" cy="1629551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58500" y="12483845"/>
            <a:ext cx="361188" cy="40411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60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635000"/>
            <a:ext cx="21971000" cy="168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60642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58500" y="12458699"/>
            <a:ext cx="388620" cy="42926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spcBef>
                <a:spcPts val="0"/>
              </a:spcBef>
              <a:defRPr sz="2000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ransition spd="med"/>
  <p:txStyles>
    <p:titleStyle>
      <a:lvl1pPr marL="0" marR="0" indent="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-100" baseline="0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1pPr>
      <a:lvl2pPr marL="0" marR="0" indent="4572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-100" baseline="0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2pPr>
      <a:lvl3pPr marL="0" marR="0" indent="9144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-100" baseline="0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3pPr>
      <a:lvl4pPr marL="0" marR="0" indent="13716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-100" baseline="0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4pPr>
      <a:lvl5pPr marL="0" marR="0" indent="18288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-100" baseline="0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5pPr>
      <a:lvl6pPr marL="0" marR="0" indent="22860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-100" baseline="0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6pPr>
      <a:lvl7pPr marL="0" marR="0" indent="27432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-100" baseline="0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7pPr>
      <a:lvl8pPr marL="0" marR="0" indent="32004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-100" baseline="0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8pPr>
      <a:lvl9pPr marL="0" marR="0" indent="36576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-100" baseline="0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9pPr>
    </p:titleStyle>
    <p:bodyStyle>
      <a:lvl1pPr marL="4572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1pPr>
      <a:lvl2pPr marL="9144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2pPr>
      <a:lvl3pPr marL="13716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3pPr>
      <a:lvl4pPr marL="18288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4pPr>
      <a:lvl5pPr marL="22860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5pPr>
      <a:lvl6pPr marL="27432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6pPr>
      <a:lvl7pPr marL="32004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7pPr>
      <a:lvl8pPr marL="36576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8pPr>
      <a:lvl9pPr marL="41148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9pPr>
    </p:bodyStyle>
    <p:otherStyle>
      <a:lvl1pPr marL="0" marR="0" indent="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ri-sruthi/AIML-Enthusiasts-Deepfake-Detection" TargetMode="Externa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am Name: AIML Enthusiasts…"/>
          <p:cNvSpPr txBox="1">
            <a:spLocks noGrp="1"/>
          </p:cNvSpPr>
          <p:nvPr>
            <p:ph type="body" idx="21"/>
          </p:nvPr>
        </p:nvSpPr>
        <p:spPr>
          <a:xfrm>
            <a:off x="1206500" y="9120765"/>
            <a:ext cx="21971000" cy="380841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 defTabSz="784225">
              <a:defRPr sz="3135"/>
            </a:pPr>
            <a:r>
              <a:t>Team Name: AIML Enthusiasts</a:t>
            </a:r>
            <a:br/>
            <a:endParaRPr/>
          </a:p>
          <a:p>
            <a:pPr defTabSz="784225">
              <a:defRPr sz="3135"/>
            </a:pPr>
            <a:r>
              <a:t>Members:</a:t>
            </a:r>
          </a:p>
          <a:p>
            <a:pPr defTabSz="784225">
              <a:defRPr sz="3135"/>
            </a:pPr>
            <a:endParaRPr/>
          </a:p>
          <a:p>
            <a:pPr marL="358330" indent="-358330" defTabSz="784225">
              <a:buSzPct val="100000"/>
              <a:buChar char="•"/>
              <a:defRPr sz="3135"/>
            </a:pPr>
            <a:r>
              <a:t>Krishna Midula K</a:t>
            </a:r>
          </a:p>
          <a:p>
            <a:pPr marL="358330" indent="-358330" defTabSz="784225">
              <a:buSzPct val="100000"/>
              <a:buChar char="•"/>
              <a:defRPr sz="3135"/>
            </a:pPr>
            <a:r>
              <a:t>Sri Sruthi Manikka Nagasamy</a:t>
            </a:r>
          </a:p>
          <a:p>
            <a:pPr marL="358330" indent="-358330" defTabSz="784225">
              <a:buSzPct val="100000"/>
              <a:buChar char="•"/>
              <a:defRPr sz="3135"/>
            </a:pPr>
            <a:r>
              <a:t>Lakshmi Ranjanaa M</a:t>
            </a:r>
          </a:p>
        </p:txBody>
      </p:sp>
      <p:sp>
        <p:nvSpPr>
          <p:cNvPr id="172" name="Deepfake Detection using Hybrid CNN–LightGBM Ensemb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337820">
              <a:defRPr sz="11400" spc="-114"/>
            </a:lvl1pPr>
          </a:lstStyle>
          <a:p>
            <a:r>
              <a:t>Deepfake Detection using Hybrid CNN–LightGBM Ensemble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roblem Overview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21">
              <a:defRPr sz="9500" spc="-95"/>
            </a:lvl1pPr>
          </a:lstStyle>
          <a:p>
            <a:r>
              <a:t>Problem Overview</a:t>
            </a:r>
          </a:p>
        </p:txBody>
      </p:sp>
      <p:sp>
        <p:nvSpPr>
          <p:cNvPr id="175" name="Objective:…"/>
          <p:cNvSpPr txBox="1">
            <a:spLocks noGrp="1"/>
          </p:cNvSpPr>
          <p:nvPr>
            <p:ph type="body" idx="1"/>
          </p:nvPr>
        </p:nvSpPr>
        <p:spPr>
          <a:xfrm>
            <a:off x="1206500" y="3232949"/>
            <a:ext cx="21971000" cy="8163461"/>
          </a:xfrm>
          <a:prstGeom prst="rect">
            <a:avLst/>
          </a:prstGeom>
        </p:spPr>
        <p:txBody>
          <a:bodyPr lIns="50800" tIns="50800" rIns="50800" bIns="50800" anchor="t">
            <a:normAutofit/>
          </a:bodyPr>
          <a:lstStyle/>
          <a:p>
            <a:pPr marL="0" indent="0" defTabSz="2072588">
              <a:spcBef>
                <a:spcPts val="3900"/>
              </a:spcBef>
              <a:buSzTx/>
              <a:buNone/>
              <a:defRPr sz="3400" b="1">
                <a:latin typeface="Graphik"/>
                <a:ea typeface="Graphik"/>
                <a:cs typeface="Graphik"/>
                <a:sym typeface="Graphik"/>
              </a:defRPr>
            </a:pPr>
            <a:r>
              <a:rPr dirty="0"/>
              <a:t>Objective:</a:t>
            </a:r>
          </a:p>
          <a:p>
            <a:pPr marL="0" indent="0" defTabSz="2072588">
              <a:spcBef>
                <a:spcPts val="3900"/>
              </a:spcBef>
              <a:buSzTx/>
              <a:buNone/>
              <a:defRPr sz="3400">
                <a:latin typeface="Graphik"/>
                <a:ea typeface="Graphik"/>
                <a:cs typeface="Graphik"/>
                <a:sym typeface="Graphik"/>
              </a:defRPr>
            </a:pPr>
            <a:r>
              <a:rPr dirty="0"/>
              <a:t>Detect synthetic (fake) images with high accuracy and reliability using machine learning.</a:t>
            </a:r>
          </a:p>
          <a:p>
            <a:pPr marL="0" indent="0" defTabSz="2072588">
              <a:spcBef>
                <a:spcPts val="3900"/>
              </a:spcBef>
              <a:buSzTx/>
              <a:buNone/>
              <a:defRPr sz="3400" b="1">
                <a:latin typeface="Graphik"/>
                <a:ea typeface="Graphik"/>
                <a:cs typeface="Graphik"/>
                <a:sym typeface="Graphik"/>
              </a:defRPr>
            </a:pPr>
            <a:endParaRPr lang="en-US" dirty="0"/>
          </a:p>
          <a:p>
            <a:pPr marL="0" indent="0" defTabSz="2072588">
              <a:spcBef>
                <a:spcPts val="3900"/>
              </a:spcBef>
              <a:buSzTx/>
              <a:buNone/>
              <a:defRPr sz="3400" b="1">
                <a:latin typeface="Graphik"/>
                <a:ea typeface="Graphik"/>
                <a:cs typeface="Graphik"/>
                <a:sym typeface="Graphik"/>
              </a:defRPr>
            </a:pPr>
            <a:r>
              <a:rPr dirty="0"/>
              <a:t>Key Challenges:</a:t>
            </a:r>
          </a:p>
          <a:p>
            <a:pPr marL="1351280" lvl="2" indent="-436880" defTabSz="2072588">
              <a:spcBef>
                <a:spcPts val="3900"/>
              </a:spcBef>
              <a:buFont typeface="Wingdings"/>
              <a:buChar char="§"/>
              <a:defRPr sz="3400">
                <a:latin typeface="Graphik"/>
                <a:ea typeface="Graphik"/>
                <a:cs typeface="Graphik"/>
                <a:sym typeface="Graphik"/>
              </a:defRPr>
            </a:pPr>
            <a:r>
              <a:rPr dirty="0"/>
              <a:t>Subtle differences between real and fake images</a:t>
            </a:r>
          </a:p>
          <a:p>
            <a:pPr marL="1351280" lvl="2" indent="-436880" defTabSz="2072588">
              <a:spcBef>
                <a:spcPts val="3900"/>
              </a:spcBef>
              <a:buFont typeface="Wingdings"/>
              <a:buChar char="§"/>
              <a:defRPr sz="3400">
                <a:latin typeface="Graphik"/>
                <a:ea typeface="Graphik"/>
                <a:cs typeface="Graphik"/>
                <a:sym typeface="Graphik"/>
              </a:defRPr>
            </a:pPr>
            <a:r>
              <a:rPr dirty="0"/>
              <a:t>Limited dataset size (~2000 training samples)</a:t>
            </a:r>
          </a:p>
          <a:p>
            <a:pPr marL="1351280" lvl="2" indent="-436880" defTabSz="2072588">
              <a:spcBef>
                <a:spcPts val="3900"/>
              </a:spcBef>
              <a:buFont typeface="Wingdings"/>
              <a:buChar char="§"/>
              <a:defRPr sz="3400">
                <a:latin typeface="Graphik"/>
                <a:ea typeface="Graphik"/>
                <a:cs typeface="Graphik"/>
                <a:sym typeface="Graphik"/>
              </a:defRPr>
            </a:pPr>
            <a:r>
              <a:rPr dirty="0"/>
              <a:t>Need for interpretability and robustness</a:t>
            </a:r>
          </a:p>
          <a:p>
            <a:pPr marL="1351280" lvl="2" indent="-436880" defTabSz="2072588">
              <a:spcBef>
                <a:spcPts val="3900"/>
              </a:spcBef>
              <a:buFont typeface="Wingdings"/>
              <a:buChar char="§"/>
              <a:defRPr sz="3400">
                <a:latin typeface="Graphik"/>
                <a:ea typeface="Graphik"/>
                <a:cs typeface="Graphik"/>
                <a:sym typeface="Graphik"/>
              </a:defRPr>
            </a:pPr>
            <a:r>
              <a:rPr dirty="0"/>
              <a:t>Scalability for large real-world datasets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Our Approach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21">
              <a:defRPr sz="9500" spc="-95"/>
            </a:lvl1pPr>
          </a:lstStyle>
          <a:p>
            <a:r>
              <a:t>Our Approach</a:t>
            </a:r>
          </a:p>
        </p:txBody>
      </p:sp>
      <p:sp>
        <p:nvSpPr>
          <p:cNvPr id="178" name="We developed a 3-tier hybrid deepfake detection pipeline that integrates spatial, statistical, and frequency-based cues to achieve robust and scalable performance.…"/>
          <p:cNvSpPr txBox="1">
            <a:spLocks noGrp="1"/>
          </p:cNvSpPr>
          <p:nvPr>
            <p:ph type="body" idx="1"/>
          </p:nvPr>
        </p:nvSpPr>
        <p:spPr>
          <a:xfrm>
            <a:off x="1206500" y="3232949"/>
            <a:ext cx="21971000" cy="816346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>
                <a:latin typeface="Graphik"/>
                <a:ea typeface="Graphik"/>
                <a:cs typeface="Graphik"/>
                <a:sym typeface="Graphik"/>
              </a:defRPr>
            </a:pPr>
            <a:r>
              <a:t>We developed a </a:t>
            </a:r>
            <a:r>
              <a:rPr b="1"/>
              <a:t>3-tier</a:t>
            </a:r>
            <a:r>
              <a:t> </a:t>
            </a:r>
            <a:r>
              <a:rPr b="1"/>
              <a:t>hybrid deepfake detection pipeline</a:t>
            </a:r>
            <a:r>
              <a:t> that integrates spatial, statistical, and frequency-based cues to achieve robust and scalable performance.</a:t>
            </a:r>
          </a:p>
          <a:p>
            <a:pPr marL="0" indent="0">
              <a:buSzTx/>
              <a:buNone/>
              <a:defRPr b="1">
                <a:latin typeface="Graphik"/>
                <a:ea typeface="Graphik"/>
                <a:cs typeface="Graphik"/>
                <a:sym typeface="Graphik"/>
              </a:defRPr>
            </a:pPr>
            <a:r>
              <a:t>Workflow:</a:t>
            </a:r>
          </a:p>
        </p:txBody>
      </p:sp>
      <p:pic>
        <p:nvPicPr>
          <p:cNvPr id="179" name="Deepfake Detection Pipeline (Horizontal).jpg" descr="Deepfake Detection Pipeline (Horizontal)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159" y="6656915"/>
            <a:ext cx="22730702" cy="53587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Dataset Descrip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21">
              <a:defRPr sz="9500" spc="-95"/>
            </a:lvl1pPr>
          </a:lstStyle>
          <a:p>
            <a:r>
              <a:t>Dataset Description</a:t>
            </a:r>
          </a:p>
        </p:txBody>
      </p:sp>
      <p:sp>
        <p:nvSpPr>
          <p:cNvPr id="182" name="Dataset Components:…"/>
          <p:cNvSpPr txBox="1">
            <a:spLocks noGrp="1"/>
          </p:cNvSpPr>
          <p:nvPr>
            <p:ph type="body" idx="1"/>
          </p:nvPr>
        </p:nvSpPr>
        <p:spPr>
          <a:xfrm>
            <a:off x="1206500" y="3342770"/>
            <a:ext cx="21971000" cy="9173884"/>
          </a:xfrm>
          <a:prstGeom prst="rect">
            <a:avLst/>
          </a:prstGeom>
        </p:spPr>
        <p:txBody>
          <a:bodyPr lIns="50800" tIns="50800" rIns="50800" bIns="50800" anchor="t">
            <a:normAutofit/>
          </a:bodyPr>
          <a:lstStyle/>
          <a:p>
            <a:pPr marL="0" indent="0" defTabSz="2048204">
              <a:spcBef>
                <a:spcPts val="3900"/>
              </a:spcBef>
              <a:buSzTx/>
              <a:buNone/>
              <a:defRPr sz="3359" b="1">
                <a:latin typeface="Graphik"/>
                <a:ea typeface="Graphik"/>
                <a:cs typeface="Graphik"/>
                <a:sym typeface="Graphik"/>
              </a:defRPr>
            </a:pPr>
            <a:r>
              <a:rPr sz="3350" dirty="0"/>
              <a:t>Dataset Components:</a:t>
            </a:r>
          </a:p>
          <a:p>
            <a:pPr marL="1297940" lvl="2" indent="-383540" defTabSz="2048204">
              <a:spcBef>
                <a:spcPts val="3900"/>
              </a:spcBef>
              <a:buFont typeface="Wingdings"/>
              <a:buChar char="§"/>
              <a:defRPr sz="3359"/>
            </a:pPr>
            <a:r>
              <a:rPr sz="3350" b="1" dirty="0">
                <a:latin typeface="Graphik"/>
                <a:ea typeface="Graphik"/>
                <a:cs typeface="Graphik"/>
                <a:sym typeface="Graphik"/>
              </a:rPr>
              <a:t>Training Images:</a:t>
            </a:r>
            <a:r>
              <a:rPr sz="3350" dirty="0"/>
              <a:t> Real and fake labelled samples</a:t>
            </a:r>
          </a:p>
          <a:p>
            <a:pPr marL="1297940" lvl="2" indent="-383540" defTabSz="2048204">
              <a:spcBef>
                <a:spcPts val="3900"/>
              </a:spcBef>
              <a:buFont typeface="Wingdings"/>
              <a:buChar char="§"/>
              <a:defRPr sz="3359"/>
            </a:pPr>
            <a:r>
              <a:rPr sz="3350" b="1" dirty="0">
                <a:latin typeface="Graphik"/>
                <a:ea typeface="Graphik"/>
                <a:cs typeface="Graphik"/>
                <a:sym typeface="Graphik"/>
              </a:rPr>
              <a:t>Training JSON File:</a:t>
            </a:r>
            <a:r>
              <a:rPr sz="3350" dirty="0"/>
              <a:t> Deepfake outputs from proprietary model (used for supervision)</a:t>
            </a:r>
          </a:p>
          <a:p>
            <a:pPr marL="1297940" lvl="2" indent="-383540" defTabSz="2048204">
              <a:spcBef>
                <a:spcPts val="3900"/>
              </a:spcBef>
              <a:buFont typeface="Wingdings"/>
              <a:buChar char="§"/>
              <a:defRPr sz="3359"/>
            </a:pPr>
            <a:r>
              <a:rPr sz="3350" b="1" dirty="0">
                <a:latin typeface="Graphik"/>
                <a:ea typeface="Graphik"/>
                <a:cs typeface="Graphik"/>
                <a:sym typeface="Graphik"/>
              </a:rPr>
              <a:t>Test Images:</a:t>
            </a:r>
            <a:r>
              <a:rPr sz="3350" dirty="0"/>
              <a:t> Unlabeled images for evaluation</a:t>
            </a:r>
          </a:p>
          <a:p>
            <a:pPr marL="383540" indent="-383540" defTabSz="2048204">
              <a:spcBef>
                <a:spcPts val="3900"/>
              </a:spcBef>
              <a:defRPr sz="3359"/>
            </a:pPr>
            <a:endParaRPr/>
          </a:p>
          <a:p>
            <a:pPr marL="0" indent="0" defTabSz="2048204">
              <a:spcBef>
                <a:spcPts val="3900"/>
              </a:spcBef>
              <a:buSzTx/>
              <a:buNone/>
              <a:defRPr sz="3359" b="1">
                <a:latin typeface="Graphik"/>
                <a:ea typeface="Graphik"/>
                <a:cs typeface="Graphik"/>
                <a:sym typeface="Graphik"/>
              </a:defRPr>
            </a:pPr>
            <a:r>
              <a:rPr sz="3350" dirty="0"/>
              <a:t>Dataset </a:t>
            </a:r>
            <a:r>
              <a:rPr sz="3350" dirty="0" err="1"/>
              <a:t>Organisation</a:t>
            </a:r>
            <a:r>
              <a:rPr sz="3350" dirty="0"/>
              <a:t>:</a:t>
            </a:r>
          </a:p>
          <a:p>
            <a:pPr marL="1297940" lvl="2" indent="-383540" defTabSz="2048204">
              <a:spcBef>
                <a:spcPts val="3900"/>
              </a:spcBef>
              <a:buFont typeface="Wingdings"/>
              <a:buChar char="§"/>
              <a:defRPr sz="3359">
                <a:latin typeface="Graphik"/>
                <a:ea typeface="Graphik"/>
                <a:cs typeface="Graphik"/>
                <a:sym typeface="Graphik"/>
              </a:defRPr>
            </a:pPr>
            <a:r>
              <a:rPr sz="3350" dirty="0"/>
              <a:t>Created df_image_table.csv for unified access</a:t>
            </a:r>
          </a:p>
          <a:p>
            <a:pPr marL="1297940" lvl="2" indent="-383540" defTabSz="2048204">
              <a:spcBef>
                <a:spcPts val="3900"/>
              </a:spcBef>
              <a:buFont typeface="Wingdings"/>
              <a:buChar char="§"/>
              <a:defRPr sz="3359">
                <a:latin typeface="Graphik"/>
                <a:ea typeface="Graphik"/>
                <a:cs typeface="Graphik"/>
                <a:sym typeface="Graphik"/>
              </a:defRPr>
            </a:pPr>
            <a:r>
              <a:rPr sz="3350" dirty="0"/>
              <a:t>Enabled consistent mapping between image features and ground truth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Feature Extrac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21">
              <a:defRPr sz="9500" spc="-95"/>
            </a:lvl1pPr>
          </a:lstStyle>
          <a:p>
            <a:r>
              <a:t>Feature Extraction</a:t>
            </a:r>
          </a:p>
        </p:txBody>
      </p:sp>
      <p:sp>
        <p:nvSpPr>
          <p:cNvPr id="185" name="Handcrafted Features (15 total)…"/>
          <p:cNvSpPr txBox="1">
            <a:spLocks noGrp="1"/>
          </p:cNvSpPr>
          <p:nvPr>
            <p:ph type="body" idx="1"/>
          </p:nvPr>
        </p:nvSpPr>
        <p:spPr>
          <a:xfrm>
            <a:off x="1206500" y="2688342"/>
            <a:ext cx="21971000" cy="10946937"/>
          </a:xfrm>
          <a:prstGeom prst="rect">
            <a:avLst/>
          </a:prstGeom>
        </p:spPr>
        <p:txBody>
          <a:bodyPr lIns="50800" tIns="50800" rIns="50800" bIns="50800" anchor="t">
            <a:normAutofit/>
          </a:bodyPr>
          <a:lstStyle/>
          <a:p>
            <a:pPr marL="0" indent="0" defTabSz="2243271">
              <a:spcBef>
                <a:spcPts val="4300"/>
              </a:spcBef>
              <a:buSzTx/>
              <a:buNone/>
              <a:defRPr sz="3680" b="1">
                <a:latin typeface="Graphik"/>
                <a:ea typeface="Graphik"/>
                <a:cs typeface="Graphik"/>
                <a:sym typeface="Graphik"/>
              </a:defRPr>
            </a:pPr>
            <a:r>
              <a:rPr sz="3650" dirty="0"/>
              <a:t>Handcrafted Features (15 total)</a:t>
            </a:r>
          </a:p>
          <a:p>
            <a:pPr marL="0" indent="0" defTabSz="2243271">
              <a:spcBef>
                <a:spcPts val="4300"/>
              </a:spcBef>
              <a:buSzTx/>
              <a:buNone/>
              <a:defRPr sz="3680"/>
            </a:pPr>
            <a:endParaRPr sz="3650" b="1" dirty="0">
              <a:latin typeface="Graphik"/>
              <a:ea typeface="Graphik"/>
              <a:cs typeface="Graphik"/>
            </a:endParaRPr>
          </a:p>
          <a:p>
            <a:pPr marL="0" indent="0" defTabSz="2243271">
              <a:spcBef>
                <a:spcPts val="4300"/>
              </a:spcBef>
              <a:buSzTx/>
              <a:buNone/>
              <a:defRPr sz="3680"/>
            </a:pPr>
            <a:endParaRPr lang="en-US" b="1">
              <a:latin typeface="Graphik"/>
              <a:ea typeface="Graphik"/>
              <a:cs typeface="Graphik"/>
              <a:sym typeface="Graphik"/>
            </a:endParaRPr>
          </a:p>
          <a:p>
            <a:pPr marL="0" indent="0" defTabSz="2243271">
              <a:spcBef>
                <a:spcPts val="4300"/>
              </a:spcBef>
              <a:buSzTx/>
              <a:buNone/>
              <a:defRPr sz="3680"/>
            </a:pPr>
            <a:endParaRPr lang="en-US" sz="3650" b="1" dirty="0">
              <a:latin typeface="Graphik"/>
              <a:ea typeface="Graphik"/>
              <a:cs typeface="Graphik"/>
            </a:endParaRPr>
          </a:p>
          <a:p>
            <a:pPr marL="0" indent="0" defTabSz="2243271">
              <a:spcBef>
                <a:spcPts val="4300"/>
              </a:spcBef>
              <a:buSzTx/>
              <a:buNone/>
              <a:defRPr sz="3680"/>
            </a:pPr>
            <a:endParaRPr lang="en-US" sz="3650" b="1" dirty="0">
              <a:latin typeface="Graphik"/>
              <a:ea typeface="Graphik"/>
              <a:cs typeface="Graphik"/>
            </a:endParaRPr>
          </a:p>
          <a:p>
            <a:pPr marL="0" indent="0" defTabSz="2243271">
              <a:spcBef>
                <a:spcPts val="4300"/>
              </a:spcBef>
              <a:buSzTx/>
              <a:buNone/>
              <a:defRPr sz="3680"/>
            </a:pPr>
            <a:endParaRPr lang="en-US" sz="3650" b="1" dirty="0">
              <a:latin typeface="Graphik"/>
              <a:ea typeface="Graphik"/>
              <a:cs typeface="Graphik"/>
              <a:sym typeface="Graphik"/>
            </a:endParaRPr>
          </a:p>
          <a:p>
            <a:pPr marL="0" indent="0" defTabSz="2243271">
              <a:spcBef>
                <a:spcPts val="4300"/>
              </a:spcBef>
              <a:buSzTx/>
              <a:buNone/>
              <a:defRPr sz="3680"/>
            </a:pPr>
            <a:endParaRPr lang="en-US" sz="3650" b="1" dirty="0">
              <a:latin typeface="Graphik"/>
              <a:ea typeface="Graphik"/>
              <a:cs typeface="Graphik"/>
              <a:sym typeface="Graphik"/>
            </a:endParaRPr>
          </a:p>
          <a:p>
            <a:pPr marL="0" indent="0" defTabSz="2243271">
              <a:spcBef>
                <a:spcPts val="4300"/>
              </a:spcBef>
              <a:buSzTx/>
              <a:buNone/>
              <a:defRPr sz="3680"/>
            </a:pPr>
            <a:endParaRPr lang="en-US" sz="3650" b="1" dirty="0">
              <a:latin typeface="Graphik"/>
              <a:ea typeface="Graphik"/>
              <a:cs typeface="Graphik"/>
              <a:sym typeface="Graphik"/>
            </a:endParaRPr>
          </a:p>
          <a:p>
            <a:pPr marL="0" indent="0" defTabSz="2243271">
              <a:spcBef>
                <a:spcPts val="4300"/>
              </a:spcBef>
              <a:buSzTx/>
              <a:buNone/>
              <a:defRPr sz="3680"/>
            </a:pPr>
            <a:r>
              <a:rPr sz="3650" b="1" dirty="0">
                <a:latin typeface="Graphik"/>
                <a:ea typeface="Graphik"/>
                <a:cs typeface="Graphik"/>
                <a:sym typeface="Graphik"/>
              </a:rPr>
              <a:t>Why:</a:t>
            </a:r>
            <a:br>
              <a:rPr sz="3650" dirty="0"/>
            </a:br>
            <a:r>
              <a:rPr sz="3650" dirty="0"/>
              <a:t>Handcrafted descriptors enhance interpretability and complement deep features by highlighting </a:t>
            </a:r>
            <a:r>
              <a:rPr sz="3650" b="1" dirty="0">
                <a:latin typeface="Graphik"/>
                <a:ea typeface="Graphik"/>
                <a:cs typeface="Graphik"/>
                <a:sym typeface="Graphik"/>
              </a:rPr>
              <a:t>forensic clues</a:t>
            </a:r>
            <a:r>
              <a:rPr sz="3650" dirty="0"/>
              <a:t> often overlooked by CNNs.</a:t>
            </a:r>
            <a:endParaRPr lang="en-US" sz="3650" b="1">
              <a:latin typeface="Graphik"/>
            </a:endParaRPr>
          </a:p>
        </p:txBody>
      </p:sp>
      <p:pic>
        <p:nvPicPr>
          <p:cNvPr id="2" name="Picture 1" descr="pasted-movie.png">
            <a:extLst>
              <a:ext uri="{FF2B5EF4-FFF2-40B4-BE49-F238E27FC236}">
                <a16:creationId xmlns:a16="http://schemas.microsoft.com/office/drawing/2014/main" id="{3899061D-A4BB-54B6-42B9-3F8451608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029" y="3903682"/>
            <a:ext cx="10401300" cy="71628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CNN-Based Feature Embedd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21">
              <a:defRPr sz="9500" spc="-95"/>
            </a:lvl1pPr>
          </a:lstStyle>
          <a:p>
            <a:r>
              <a:t>CNN-Based Feature Embedding</a:t>
            </a:r>
          </a:p>
        </p:txBody>
      </p:sp>
      <p:sp>
        <p:nvSpPr>
          <p:cNvPr id="189" name="Model Architecture…"/>
          <p:cNvSpPr txBox="1">
            <a:spLocks noGrp="1"/>
          </p:cNvSpPr>
          <p:nvPr>
            <p:ph type="body" idx="1"/>
          </p:nvPr>
        </p:nvSpPr>
        <p:spPr>
          <a:xfrm>
            <a:off x="1206500" y="2423549"/>
            <a:ext cx="21971000" cy="11211730"/>
          </a:xfrm>
          <a:prstGeom prst="rect">
            <a:avLst/>
          </a:prstGeom>
        </p:spPr>
        <p:txBody>
          <a:bodyPr lIns="50800" tIns="50800" rIns="50800" bIns="50800" anchor="t">
            <a:normAutofit/>
          </a:bodyPr>
          <a:lstStyle/>
          <a:p>
            <a:pPr marL="0" indent="0" defTabSz="1389853">
              <a:spcBef>
                <a:spcPts val="2600"/>
              </a:spcBef>
              <a:buSzTx/>
              <a:buNone/>
              <a:defRPr sz="2280" b="1">
                <a:latin typeface="Graphik"/>
                <a:ea typeface="Graphik"/>
                <a:cs typeface="Graphik"/>
                <a:sym typeface="Graphik"/>
              </a:defRPr>
            </a:pPr>
            <a:r>
              <a:rPr sz="2400" dirty="0"/>
              <a:t>Model Architecture</a:t>
            </a:r>
            <a:endParaRPr lang="en-US" sz="2400" dirty="0"/>
          </a:p>
          <a:p>
            <a:pPr marL="0" indent="0" defTabSz="1389853">
              <a:spcBef>
                <a:spcPts val="2600"/>
              </a:spcBef>
              <a:buSzTx/>
              <a:buNone/>
              <a:defRPr sz="2280"/>
            </a:pPr>
            <a:endParaRPr sz="2400" b="1" dirty="0">
              <a:latin typeface="Graphik"/>
            </a:endParaRPr>
          </a:p>
          <a:p>
            <a:pPr marL="0" indent="0" defTabSz="1389853">
              <a:spcBef>
                <a:spcPts val="2600"/>
              </a:spcBef>
              <a:buSzTx/>
              <a:buNone/>
              <a:defRPr sz="2280" b="1">
                <a:latin typeface="Graphik"/>
                <a:ea typeface="Graphik"/>
                <a:cs typeface="Graphik"/>
                <a:sym typeface="Graphik"/>
              </a:defRPr>
            </a:pPr>
            <a:endParaRPr lang="en-US" sz="2400" dirty="0"/>
          </a:p>
          <a:p>
            <a:pPr marL="0" indent="0" defTabSz="1389853">
              <a:spcBef>
                <a:spcPts val="2600"/>
              </a:spcBef>
              <a:buSzTx/>
              <a:buNone/>
              <a:defRPr sz="2280" b="1">
                <a:latin typeface="Graphik"/>
                <a:ea typeface="Graphik"/>
                <a:cs typeface="Graphik"/>
                <a:sym typeface="Graphik"/>
              </a:defRPr>
            </a:pPr>
            <a:endParaRPr lang="en-US" sz="2400" dirty="0"/>
          </a:p>
          <a:p>
            <a:pPr marL="0" indent="0" defTabSz="1389853">
              <a:spcBef>
                <a:spcPts val="2600"/>
              </a:spcBef>
              <a:buSzTx/>
              <a:buNone/>
              <a:defRPr sz="2280" b="1">
                <a:latin typeface="Graphik"/>
                <a:ea typeface="Graphik"/>
                <a:cs typeface="Graphik"/>
                <a:sym typeface="Graphik"/>
              </a:defRPr>
            </a:pPr>
            <a:endParaRPr lang="en-US" sz="2400" dirty="0"/>
          </a:p>
          <a:p>
            <a:pPr marL="0" indent="0" defTabSz="1389853">
              <a:spcBef>
                <a:spcPts val="2600"/>
              </a:spcBef>
              <a:buSzTx/>
              <a:buNone/>
              <a:defRPr sz="2280" b="1">
                <a:latin typeface="Graphik"/>
                <a:ea typeface="Graphik"/>
                <a:cs typeface="Graphik"/>
                <a:sym typeface="Graphik"/>
              </a:defRPr>
            </a:pPr>
            <a:endParaRPr lang="en-US" sz="2400" dirty="0"/>
          </a:p>
          <a:p>
            <a:pPr marL="0" indent="0" defTabSz="1389853">
              <a:spcBef>
                <a:spcPts val="2600"/>
              </a:spcBef>
              <a:buSzTx/>
              <a:buNone/>
              <a:defRPr sz="2280" b="1">
                <a:latin typeface="Graphik"/>
                <a:ea typeface="Graphik"/>
                <a:cs typeface="Graphik"/>
                <a:sym typeface="Graphik"/>
              </a:defRPr>
            </a:pPr>
            <a:endParaRPr lang="en-US" sz="2400" dirty="0"/>
          </a:p>
          <a:p>
            <a:pPr marL="0" indent="0" defTabSz="1389853">
              <a:spcBef>
                <a:spcPts val="2600"/>
              </a:spcBef>
              <a:buSzTx/>
              <a:buNone/>
              <a:defRPr sz="2280" b="1">
                <a:latin typeface="Graphik"/>
                <a:ea typeface="Graphik"/>
                <a:cs typeface="Graphik"/>
                <a:sym typeface="Graphik"/>
              </a:defRPr>
            </a:pPr>
            <a:r>
              <a:rPr sz="2400" dirty="0"/>
              <a:t>Training:</a:t>
            </a:r>
          </a:p>
          <a:p>
            <a:pPr marL="1174750" lvl="2" indent="-260350" defTabSz="1389853">
              <a:spcBef>
                <a:spcPts val="2600"/>
              </a:spcBef>
              <a:buFont typeface="Wingdings"/>
              <a:buChar char="§"/>
              <a:defRPr sz="2280"/>
            </a:pPr>
            <a:r>
              <a:rPr sz="2400" b="1" dirty="0">
                <a:latin typeface="Graphik"/>
                <a:ea typeface="Graphik"/>
                <a:cs typeface="Graphik"/>
                <a:sym typeface="Graphik"/>
              </a:rPr>
              <a:t>Loss:</a:t>
            </a:r>
            <a:r>
              <a:rPr sz="2400" dirty="0"/>
              <a:t> Binary Cross-Entropy</a:t>
            </a:r>
          </a:p>
          <a:p>
            <a:pPr marL="1174750" lvl="2" indent="-260350" defTabSz="1389853">
              <a:spcBef>
                <a:spcPts val="2600"/>
              </a:spcBef>
              <a:buFont typeface="Wingdings"/>
              <a:buChar char="§"/>
              <a:defRPr sz="2280"/>
            </a:pPr>
            <a:r>
              <a:rPr sz="2400" b="1" dirty="0" err="1">
                <a:latin typeface="Graphik"/>
                <a:ea typeface="Graphik"/>
                <a:cs typeface="Graphik"/>
                <a:sym typeface="Graphik"/>
              </a:rPr>
              <a:t>Optimiser</a:t>
            </a:r>
            <a:r>
              <a:rPr sz="2400" b="1" dirty="0">
                <a:latin typeface="Graphik"/>
                <a:ea typeface="Graphik"/>
                <a:cs typeface="Graphik"/>
                <a:sym typeface="Graphik"/>
              </a:rPr>
              <a:t>: </a:t>
            </a:r>
            <a:r>
              <a:rPr sz="2400" dirty="0"/>
              <a:t>Adam (</a:t>
            </a:r>
            <a:r>
              <a:rPr sz="2400" dirty="0" err="1"/>
              <a:t>lr</a:t>
            </a:r>
            <a:r>
              <a:rPr sz="2400" dirty="0"/>
              <a:t> = 1e−3)</a:t>
            </a:r>
          </a:p>
          <a:p>
            <a:pPr marL="1174750" lvl="2" indent="-260350" defTabSz="1389853">
              <a:spcBef>
                <a:spcPts val="2600"/>
              </a:spcBef>
              <a:buFont typeface="Wingdings"/>
              <a:buChar char="§"/>
              <a:defRPr sz="2280"/>
            </a:pPr>
            <a:r>
              <a:rPr sz="2400" b="1" dirty="0">
                <a:latin typeface="Graphik"/>
                <a:ea typeface="Graphik"/>
                <a:cs typeface="Graphik"/>
                <a:sym typeface="Graphik"/>
              </a:rPr>
              <a:t>Batch size: </a:t>
            </a:r>
            <a:r>
              <a:rPr sz="2400" dirty="0"/>
              <a:t>64</a:t>
            </a:r>
          </a:p>
          <a:p>
            <a:pPr marL="1174750" lvl="2" indent="-260350" defTabSz="1389853">
              <a:spcBef>
                <a:spcPts val="2600"/>
              </a:spcBef>
              <a:buFont typeface="Wingdings"/>
              <a:buChar char="§"/>
              <a:defRPr sz="2280"/>
            </a:pPr>
            <a:r>
              <a:rPr sz="2400" b="1" dirty="0">
                <a:latin typeface="Graphik"/>
                <a:ea typeface="Graphik"/>
                <a:cs typeface="Graphik"/>
                <a:sym typeface="Graphik"/>
              </a:rPr>
              <a:t>Epochs: </a:t>
            </a:r>
            <a:r>
              <a:rPr sz="2400" dirty="0"/>
              <a:t>25 per fold</a:t>
            </a:r>
          </a:p>
          <a:p>
            <a:pPr marL="1174750" lvl="2" indent="-260350" defTabSz="1389853">
              <a:spcBef>
                <a:spcPts val="2600"/>
              </a:spcBef>
              <a:buFont typeface="Wingdings"/>
              <a:buChar char="§"/>
              <a:defRPr sz="2280"/>
            </a:pPr>
            <a:r>
              <a:rPr sz="2400" b="1" dirty="0">
                <a:latin typeface="Graphik"/>
                <a:ea typeface="Graphik"/>
                <a:cs typeface="Graphik"/>
                <a:sym typeface="Graphik"/>
              </a:rPr>
              <a:t>Cross-validation:</a:t>
            </a:r>
            <a:r>
              <a:rPr sz="2400" dirty="0"/>
              <a:t> 5-fold Stratified</a:t>
            </a:r>
          </a:p>
          <a:p>
            <a:pPr marL="1174750" lvl="2" indent="-260350" defTabSz="1389853">
              <a:spcBef>
                <a:spcPts val="2600"/>
              </a:spcBef>
              <a:buFont typeface="Wingdings"/>
              <a:buChar char="§"/>
              <a:defRPr sz="2280"/>
            </a:pPr>
            <a:r>
              <a:rPr sz="2400" b="1" dirty="0">
                <a:latin typeface="Graphik"/>
                <a:ea typeface="Graphik"/>
                <a:cs typeface="Graphik"/>
                <a:sym typeface="Graphik"/>
              </a:rPr>
              <a:t>Test-Time Augmentation (TTA):</a:t>
            </a:r>
            <a:r>
              <a:rPr sz="2400" dirty="0"/>
              <a:t> none, </a:t>
            </a:r>
            <a:r>
              <a:rPr sz="2400" err="1"/>
              <a:t>hflip</a:t>
            </a:r>
            <a:r>
              <a:rPr sz="2400" dirty="0"/>
              <a:t>, </a:t>
            </a:r>
            <a:r>
              <a:rPr sz="2400" err="1"/>
              <a:t>vflip</a:t>
            </a:r>
            <a:r>
              <a:rPr sz="2400" dirty="0"/>
              <a:t>, rot90</a:t>
            </a:r>
          </a:p>
          <a:p>
            <a:pPr marL="0" indent="0" defTabSz="1389853">
              <a:spcBef>
                <a:spcPts val="2600"/>
              </a:spcBef>
              <a:buSzTx/>
              <a:buNone/>
              <a:defRPr sz="2280" b="1">
                <a:latin typeface="Graphik"/>
                <a:ea typeface="Graphik"/>
                <a:cs typeface="Graphik"/>
                <a:sym typeface="Graphik"/>
              </a:defRPr>
            </a:pPr>
            <a:r>
              <a:rPr sz="2400" dirty="0"/>
              <a:t>Why:</a:t>
            </a:r>
          </a:p>
          <a:p>
            <a:pPr marL="0" indent="0" defTabSz="1389853">
              <a:spcBef>
                <a:spcPts val="2600"/>
              </a:spcBef>
              <a:buSzTx/>
              <a:buNone/>
              <a:defRPr sz="2280"/>
            </a:pPr>
            <a:r>
              <a:rPr sz="2400" dirty="0"/>
              <a:t>This compact CNN efficiently learned </a:t>
            </a:r>
            <a:r>
              <a:rPr sz="2400" b="1" dirty="0">
                <a:latin typeface="Graphik"/>
                <a:ea typeface="Graphik"/>
                <a:cs typeface="Graphik"/>
                <a:sym typeface="Graphik"/>
              </a:rPr>
              <a:t>texture-level deep embeddings</a:t>
            </a:r>
            <a:r>
              <a:rPr sz="2400" dirty="0"/>
              <a:t> without heavy pre-trained models — ensuring scalability and reproducibility.</a:t>
            </a:r>
          </a:p>
        </p:txBody>
      </p:sp>
      <p:pic>
        <p:nvPicPr>
          <p:cNvPr id="190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500" y="3016427"/>
            <a:ext cx="8271189" cy="382776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Hybrid Feature Construc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21">
              <a:defRPr sz="9500" spc="-95"/>
            </a:lvl1pPr>
          </a:lstStyle>
          <a:p>
            <a:r>
              <a:t>Hybrid Feature Construction </a:t>
            </a:r>
          </a:p>
        </p:txBody>
      </p:sp>
      <p:sp>
        <p:nvSpPr>
          <p:cNvPr id="193" name="Feature Vector Composition:…"/>
          <p:cNvSpPr txBox="1">
            <a:spLocks noGrp="1"/>
          </p:cNvSpPr>
          <p:nvPr>
            <p:ph type="body" idx="1"/>
          </p:nvPr>
        </p:nvSpPr>
        <p:spPr>
          <a:xfrm>
            <a:off x="1206500" y="2688342"/>
            <a:ext cx="21971000" cy="10946937"/>
          </a:xfrm>
          <a:prstGeom prst="rect">
            <a:avLst/>
          </a:prstGeom>
        </p:spPr>
        <p:txBody>
          <a:bodyPr lIns="50800" tIns="50800" rIns="50800" bIns="50800" anchor="t">
            <a:normAutofit/>
          </a:bodyPr>
          <a:lstStyle/>
          <a:p>
            <a:pPr marL="0" indent="0" defTabSz="1975054">
              <a:spcBef>
                <a:spcPts val="3800"/>
              </a:spcBef>
              <a:buSzTx/>
              <a:buNone/>
              <a:defRPr sz="3240" b="1">
                <a:latin typeface="Graphik"/>
                <a:ea typeface="Graphik"/>
                <a:cs typeface="Graphik"/>
                <a:sym typeface="Graphik"/>
              </a:defRPr>
            </a:pPr>
            <a:r>
              <a:rPr sz="3200" dirty="0"/>
              <a:t>Feature Vector Composition:</a:t>
            </a:r>
          </a:p>
          <a:p>
            <a:pPr marL="0" indent="0" defTabSz="1975054">
              <a:spcBef>
                <a:spcPts val="3800"/>
              </a:spcBef>
              <a:buSzTx/>
              <a:buNone/>
              <a:defRPr sz="3240"/>
            </a:pPr>
            <a:r>
              <a:rPr sz="3200" dirty="0"/>
              <a:t>For each image:</a:t>
            </a:r>
          </a:p>
          <a:p>
            <a:pPr marL="0" indent="0" defTabSz="1975054">
              <a:spcBef>
                <a:spcPts val="3800"/>
              </a:spcBef>
              <a:buSzTx/>
              <a:buNone/>
              <a:defRPr sz="3240"/>
            </a:pPr>
            <a:r>
              <a:rPr sz="3200" dirty="0"/>
              <a:t>X = [CNN embedding (256) + Handcrafted features (15) + CNN_OOF (1)]</a:t>
            </a:r>
          </a:p>
          <a:p>
            <a:pPr marL="0" indent="0" defTabSz="1975054">
              <a:spcBef>
                <a:spcPts val="3800"/>
              </a:spcBef>
              <a:buSzTx/>
              <a:buNone/>
              <a:defRPr sz="3240" b="1">
                <a:latin typeface="Graphik"/>
                <a:ea typeface="Graphik"/>
                <a:cs typeface="Graphik"/>
                <a:sym typeface="Graphik"/>
              </a:defRPr>
            </a:pPr>
            <a:r>
              <a:rPr sz="3200" b="0" dirty="0">
                <a:latin typeface="Graphik Light"/>
                <a:ea typeface="Graphik Light"/>
                <a:cs typeface="Graphik Light"/>
                <a:sym typeface="Graphik Light"/>
              </a:rPr>
              <a:t>→ Total </a:t>
            </a:r>
            <a:r>
              <a:rPr sz="3200" dirty="0"/>
              <a:t>272-dimensional feature vector</a:t>
            </a:r>
          </a:p>
          <a:p>
            <a:pPr marL="0" indent="0" defTabSz="1975054">
              <a:spcBef>
                <a:spcPts val="3800"/>
              </a:spcBef>
              <a:buSzTx/>
              <a:buNone/>
              <a:defRPr sz="3240" b="1">
                <a:latin typeface="Graphik"/>
                <a:ea typeface="Graphik"/>
                <a:cs typeface="Graphik"/>
                <a:sym typeface="Graphik"/>
              </a:defRPr>
            </a:pPr>
            <a:r>
              <a:rPr sz="3200" dirty="0"/>
              <a:t>Why:</a:t>
            </a:r>
          </a:p>
          <a:p>
            <a:pPr marL="0" indent="0" defTabSz="1975054">
              <a:spcBef>
                <a:spcPts val="3800"/>
              </a:spcBef>
              <a:buSzTx/>
              <a:buNone/>
              <a:defRPr sz="3240"/>
            </a:pPr>
            <a:r>
              <a:rPr sz="3200" dirty="0"/>
              <a:t>Combines the strengths of:</a:t>
            </a:r>
          </a:p>
          <a:p>
            <a:pPr marL="1284605" lvl="2" indent="-370205" defTabSz="1975054">
              <a:spcBef>
                <a:spcPts val="3800"/>
              </a:spcBef>
              <a:buFont typeface="Wingdings"/>
              <a:buChar char="§"/>
              <a:defRPr sz="3240"/>
            </a:pPr>
            <a:r>
              <a:rPr sz="3200" dirty="0"/>
              <a:t>CNN embeddings → deep texture patterns</a:t>
            </a:r>
          </a:p>
          <a:p>
            <a:pPr marL="1284605" lvl="2" indent="-370205" defTabSz="1975054">
              <a:spcBef>
                <a:spcPts val="3800"/>
              </a:spcBef>
              <a:buFont typeface="Wingdings"/>
              <a:buChar char="§"/>
              <a:defRPr sz="3240"/>
            </a:pPr>
            <a:r>
              <a:rPr sz="3200" dirty="0"/>
              <a:t>Handcrafted features → interpretable forensic statistics</a:t>
            </a:r>
          </a:p>
          <a:p>
            <a:pPr marL="1284605" lvl="2" indent="-370205" defTabSz="1975054">
              <a:spcBef>
                <a:spcPts val="3800"/>
              </a:spcBef>
              <a:buFont typeface="Wingdings"/>
              <a:buChar char="§"/>
              <a:defRPr sz="3240"/>
            </a:pPr>
            <a:r>
              <a:rPr sz="3200" dirty="0"/>
              <a:t>CNN OOF → meta-confidence signal</a:t>
            </a:r>
          </a:p>
          <a:p>
            <a:pPr marL="0" indent="0" defTabSz="1975054">
              <a:spcBef>
                <a:spcPts val="3800"/>
              </a:spcBef>
              <a:buSzTx/>
              <a:buNone/>
              <a:defRPr sz="3240" b="1">
                <a:latin typeface="Graphik"/>
                <a:ea typeface="Graphik"/>
                <a:cs typeface="Graphik"/>
                <a:sym typeface="Graphik"/>
              </a:defRPr>
            </a:pPr>
            <a:r>
              <a:rPr sz="3200" b="0" dirty="0">
                <a:latin typeface="Graphik Light"/>
                <a:ea typeface="Graphik Light"/>
                <a:cs typeface="Graphik Light"/>
                <a:sym typeface="Graphik Light"/>
              </a:rPr>
              <a:t>This fusion improved </a:t>
            </a:r>
            <a:r>
              <a:rPr sz="3200" dirty="0" err="1"/>
              <a:t>generalisation</a:t>
            </a:r>
            <a:r>
              <a:rPr sz="3200" dirty="0"/>
              <a:t> and calibration, </a:t>
            </a:r>
            <a:r>
              <a:rPr sz="3200" b="0" dirty="0">
                <a:latin typeface="Graphik Light"/>
                <a:ea typeface="Graphik Light"/>
                <a:cs typeface="Graphik Light"/>
                <a:sym typeface="Graphik Light"/>
              </a:rPr>
              <a:t>boosting the model’s discrimination power.</a:t>
            </a:r>
            <a:endParaRPr sz="3200" b="0" dirty="0">
              <a:latin typeface="Graphik Light"/>
              <a:ea typeface="Graphik Light"/>
              <a:cs typeface="Graphik Light"/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LightGBM Meta-Mode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21">
              <a:defRPr sz="9500" spc="-95"/>
            </a:lvl1pPr>
          </a:lstStyle>
          <a:p>
            <a:r>
              <a:t>LightGBM Meta-Model</a:t>
            </a:r>
          </a:p>
        </p:txBody>
      </p:sp>
      <p:sp>
        <p:nvSpPr>
          <p:cNvPr id="196" name="Model Type: Gradient Boosting Trees (LightGBM)…"/>
          <p:cNvSpPr txBox="1">
            <a:spLocks noGrp="1"/>
          </p:cNvSpPr>
          <p:nvPr>
            <p:ph type="body" idx="1"/>
          </p:nvPr>
        </p:nvSpPr>
        <p:spPr>
          <a:xfrm>
            <a:off x="1206500" y="2688342"/>
            <a:ext cx="21971000" cy="10946937"/>
          </a:xfrm>
          <a:prstGeom prst="rect">
            <a:avLst/>
          </a:prstGeom>
        </p:spPr>
        <p:txBody>
          <a:bodyPr lIns="50800" tIns="50800" rIns="50800" bIns="50800" anchor="t">
            <a:normAutofit/>
          </a:bodyPr>
          <a:lstStyle/>
          <a:p>
            <a:pPr marL="0" indent="0" defTabSz="1779987">
              <a:spcBef>
                <a:spcPts val="3400"/>
              </a:spcBef>
              <a:buSzTx/>
              <a:buNone/>
              <a:defRPr sz="2920" b="1">
                <a:latin typeface="Graphik"/>
                <a:ea typeface="Graphik"/>
                <a:cs typeface="Graphik"/>
                <a:sym typeface="Graphik"/>
              </a:defRPr>
            </a:pPr>
            <a:r>
              <a:rPr sz="3000" dirty="0"/>
              <a:t>Model Type: </a:t>
            </a:r>
            <a:r>
              <a:rPr sz="3000" b="0" dirty="0">
                <a:latin typeface="Graphik Light"/>
                <a:ea typeface="Graphik Light"/>
                <a:cs typeface="Graphik Light"/>
                <a:sym typeface="Graphik Light"/>
              </a:rPr>
              <a:t>Gradient Boosting Trees (</a:t>
            </a:r>
            <a:r>
              <a:rPr sz="3000" b="0" err="1">
                <a:latin typeface="Graphik Light"/>
                <a:ea typeface="Graphik Light"/>
                <a:cs typeface="Graphik Light"/>
                <a:sym typeface="Graphik Light"/>
              </a:rPr>
              <a:t>LightGBM</a:t>
            </a:r>
            <a:r>
              <a:rPr sz="3000" b="0" dirty="0">
                <a:latin typeface="Graphik Light"/>
                <a:ea typeface="Graphik Light"/>
                <a:cs typeface="Graphik Light"/>
                <a:sym typeface="Graphik Light"/>
              </a:rPr>
              <a:t>)</a:t>
            </a:r>
            <a:endParaRPr lang="en-US" sz="3000" b="0" dirty="0">
              <a:latin typeface="Graphik Light"/>
              <a:ea typeface="Graphik Light"/>
              <a:cs typeface="Graphik Light"/>
            </a:endParaRPr>
          </a:p>
          <a:p>
            <a:pPr marL="0" indent="0" defTabSz="1779987">
              <a:spcBef>
                <a:spcPts val="3400"/>
              </a:spcBef>
              <a:buSzTx/>
              <a:buNone/>
              <a:defRPr sz="2920"/>
            </a:pPr>
            <a:r>
              <a:rPr sz="3000" b="1" dirty="0">
                <a:latin typeface="Graphik"/>
                <a:ea typeface="Graphik"/>
                <a:cs typeface="Graphik"/>
                <a:sym typeface="Graphik"/>
              </a:rPr>
              <a:t>Objective:</a:t>
            </a:r>
            <a:r>
              <a:rPr sz="3000" dirty="0"/>
              <a:t> Binary Classification</a:t>
            </a:r>
          </a:p>
          <a:p>
            <a:pPr marL="0" indent="0" defTabSz="1779987">
              <a:spcBef>
                <a:spcPts val="3400"/>
              </a:spcBef>
              <a:buSzTx/>
              <a:buNone/>
              <a:defRPr sz="2920"/>
            </a:pPr>
            <a:r>
              <a:rPr sz="3000" b="1" dirty="0">
                <a:latin typeface="Graphik"/>
                <a:ea typeface="Graphik"/>
                <a:cs typeface="Graphik"/>
                <a:sym typeface="Graphik"/>
              </a:rPr>
              <a:t>Evaluation Metric:</a:t>
            </a:r>
            <a:r>
              <a:rPr sz="3000" dirty="0"/>
              <a:t> AUC</a:t>
            </a:r>
          </a:p>
          <a:p>
            <a:pPr marL="0" indent="0" defTabSz="1779987">
              <a:spcBef>
                <a:spcPts val="3400"/>
              </a:spcBef>
              <a:buSzTx/>
              <a:buNone/>
              <a:defRPr sz="2920" b="1">
                <a:latin typeface="Graphik"/>
                <a:ea typeface="Graphik"/>
                <a:cs typeface="Graphik"/>
                <a:sym typeface="Graphik"/>
              </a:defRPr>
            </a:pPr>
            <a:r>
              <a:rPr sz="3000" dirty="0"/>
              <a:t>Tuned Hyperparameters:</a:t>
            </a:r>
          </a:p>
          <a:p>
            <a:pPr marL="1247775" lvl="2" indent="-333375" defTabSz="1779987">
              <a:spcBef>
                <a:spcPts val="3400"/>
              </a:spcBef>
              <a:buFont typeface="Wingdings"/>
              <a:buChar char="§"/>
              <a:defRPr sz="2920"/>
            </a:pPr>
            <a:r>
              <a:rPr sz="3000" err="1"/>
              <a:t>learning_rate</a:t>
            </a:r>
            <a:r>
              <a:rPr sz="3000" dirty="0"/>
              <a:t> = 0.03</a:t>
            </a:r>
          </a:p>
          <a:p>
            <a:pPr marL="1247775" lvl="2" indent="-333375" defTabSz="1779987">
              <a:spcBef>
                <a:spcPts val="3400"/>
              </a:spcBef>
              <a:buFont typeface="Wingdings"/>
              <a:buChar char="§"/>
              <a:defRPr sz="2920"/>
            </a:pPr>
            <a:r>
              <a:rPr sz="3000" err="1"/>
              <a:t>num_leaves</a:t>
            </a:r>
            <a:r>
              <a:rPr sz="3000" dirty="0"/>
              <a:t> = 127</a:t>
            </a:r>
          </a:p>
          <a:p>
            <a:pPr marL="1247775" lvl="2" indent="-333375" defTabSz="1779987">
              <a:spcBef>
                <a:spcPts val="3400"/>
              </a:spcBef>
              <a:buFont typeface="Wingdings"/>
              <a:buChar char="§"/>
              <a:defRPr sz="2920"/>
            </a:pPr>
            <a:r>
              <a:rPr sz="3000" err="1"/>
              <a:t>feature_fraction</a:t>
            </a:r>
            <a:r>
              <a:rPr sz="3000" dirty="0"/>
              <a:t> = 0.8</a:t>
            </a:r>
          </a:p>
          <a:p>
            <a:pPr marL="1247775" lvl="2" indent="-333375" defTabSz="1779987">
              <a:spcBef>
                <a:spcPts val="3400"/>
              </a:spcBef>
              <a:buFont typeface="Wingdings"/>
              <a:buChar char="§"/>
              <a:defRPr sz="2920"/>
            </a:pPr>
            <a:r>
              <a:rPr sz="3000" err="1"/>
              <a:t>bagging_fraction</a:t>
            </a:r>
            <a:r>
              <a:rPr sz="3000" dirty="0"/>
              <a:t> = 0.8</a:t>
            </a:r>
          </a:p>
          <a:p>
            <a:pPr marL="1247775" lvl="2" indent="-333375" defTabSz="1779987">
              <a:spcBef>
                <a:spcPts val="3400"/>
              </a:spcBef>
              <a:buFont typeface="Wingdings"/>
              <a:buChar char="§"/>
              <a:defRPr sz="2920"/>
            </a:pPr>
            <a:r>
              <a:rPr sz="3000" err="1"/>
              <a:t>min_child_samples</a:t>
            </a:r>
            <a:r>
              <a:rPr sz="3000" dirty="0"/>
              <a:t> = 20</a:t>
            </a:r>
          </a:p>
          <a:p>
            <a:pPr marL="1247775" lvl="2" indent="-333375" defTabSz="1779987">
              <a:spcBef>
                <a:spcPts val="3400"/>
              </a:spcBef>
              <a:buFont typeface="Wingdings"/>
              <a:buChar char="§"/>
              <a:defRPr sz="2920"/>
            </a:pPr>
            <a:r>
              <a:rPr sz="3000" err="1"/>
              <a:t>early_stopping</a:t>
            </a:r>
            <a:r>
              <a:rPr sz="3000" dirty="0"/>
              <a:t> = 100 rounds</a:t>
            </a:r>
          </a:p>
          <a:p>
            <a:pPr marL="0" indent="0" defTabSz="1779987">
              <a:spcBef>
                <a:spcPts val="3400"/>
              </a:spcBef>
              <a:buSzTx/>
              <a:buNone/>
              <a:defRPr sz="2920" b="1">
                <a:latin typeface="Graphik"/>
                <a:ea typeface="Graphik"/>
                <a:cs typeface="Graphik"/>
                <a:sym typeface="Graphik"/>
              </a:defRPr>
            </a:pPr>
            <a:r>
              <a:rPr sz="3000" dirty="0"/>
              <a:t>Why </a:t>
            </a:r>
            <a:r>
              <a:rPr sz="3000" err="1"/>
              <a:t>LightGBM</a:t>
            </a:r>
            <a:r>
              <a:rPr sz="3000" dirty="0"/>
              <a:t>:</a:t>
            </a:r>
            <a:r>
              <a:rPr sz="3000" b="0" dirty="0">
                <a:latin typeface="Graphik Light"/>
                <a:ea typeface="Graphik Light"/>
                <a:cs typeface="Graphik Light"/>
                <a:sym typeface="Graphik Light"/>
              </a:rPr>
              <a:t> Handles heterogeneous features (deep + handcrafted) efficiently</a:t>
            </a:r>
            <a:endParaRPr sz="3000" b="0" dirty="0">
              <a:latin typeface="Graphik Light"/>
              <a:ea typeface="Graphik Light"/>
              <a:cs typeface="Graphik Light"/>
            </a:endParaRP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Hyperparameter Optimisation with Optuna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121354">
              <a:defRPr sz="8700" spc="-87"/>
            </a:lvl1pPr>
          </a:lstStyle>
          <a:p>
            <a:r>
              <a:t>Hyperparameter Optimisation with Optuna</a:t>
            </a:r>
          </a:p>
        </p:txBody>
      </p:sp>
      <p:sp>
        <p:nvSpPr>
          <p:cNvPr id="199" name="Goal: To maximise generalization and reduce overfitting…"/>
          <p:cNvSpPr txBox="1">
            <a:spLocks noGrp="1"/>
          </p:cNvSpPr>
          <p:nvPr>
            <p:ph type="body" idx="1"/>
          </p:nvPr>
        </p:nvSpPr>
        <p:spPr>
          <a:xfrm>
            <a:off x="1206500" y="2688342"/>
            <a:ext cx="21971000" cy="10946937"/>
          </a:xfrm>
          <a:prstGeom prst="rect">
            <a:avLst/>
          </a:prstGeom>
        </p:spPr>
        <p:txBody>
          <a:bodyPr/>
          <a:lstStyle/>
          <a:p>
            <a:pPr marL="0" indent="0" defTabSz="1731220">
              <a:spcBef>
                <a:spcPts val="3300"/>
              </a:spcBef>
              <a:buSzTx/>
              <a:buNone/>
              <a:defRPr sz="2840" b="1">
                <a:latin typeface="Graphik"/>
                <a:ea typeface="Graphik"/>
                <a:cs typeface="Graphik"/>
                <a:sym typeface="Graphik"/>
              </a:defRPr>
            </a:pPr>
            <a:r>
              <a:t>Goal:</a:t>
            </a:r>
            <a:r>
              <a:rPr b="0">
                <a:latin typeface="Graphik Light"/>
                <a:ea typeface="Graphik Light"/>
                <a:cs typeface="Graphik Light"/>
                <a:sym typeface="Graphik Light"/>
              </a:rPr>
              <a:t> To maximise generalization and reduce overfitting</a:t>
            </a:r>
          </a:p>
          <a:p>
            <a:pPr marL="0" indent="0" defTabSz="1731220">
              <a:spcBef>
                <a:spcPts val="3300"/>
              </a:spcBef>
              <a:buSzTx/>
              <a:buNone/>
              <a:defRPr sz="2840" b="1">
                <a:latin typeface="Graphik"/>
                <a:ea typeface="Graphik"/>
                <a:cs typeface="Graphik"/>
                <a:sym typeface="Graphik"/>
              </a:defRPr>
            </a:pPr>
            <a:r>
              <a:t>Search space definition:</a:t>
            </a:r>
          </a:p>
          <a:p>
            <a:pPr marL="0" indent="0" defTabSz="1731220">
              <a:spcBef>
                <a:spcPts val="3300"/>
              </a:spcBef>
              <a:buSzTx/>
              <a:buNone/>
              <a:defRPr sz="2840"/>
            </a:pPr>
            <a:endParaRPr/>
          </a:p>
        </p:txBody>
      </p:sp>
      <p:pic>
        <p:nvPicPr>
          <p:cNvPr id="200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500" y="4421369"/>
            <a:ext cx="13010766" cy="80329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Hyperparameter Optimisation with Optuna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121354">
              <a:defRPr sz="8700" spc="-87"/>
            </a:lvl1pPr>
          </a:lstStyle>
          <a:p>
            <a:r>
              <a:t>Hyperparameter Optimisation with Optuna</a:t>
            </a:r>
          </a:p>
        </p:txBody>
      </p:sp>
      <p:sp>
        <p:nvSpPr>
          <p:cNvPr id="203" name="Best Trial:…"/>
          <p:cNvSpPr txBox="1">
            <a:spLocks noGrp="1"/>
          </p:cNvSpPr>
          <p:nvPr>
            <p:ph type="body" idx="1"/>
          </p:nvPr>
        </p:nvSpPr>
        <p:spPr>
          <a:xfrm>
            <a:off x="1206500" y="2688342"/>
            <a:ext cx="21971000" cy="10946937"/>
          </a:xfrm>
          <a:prstGeom prst="rect">
            <a:avLst/>
          </a:prstGeom>
        </p:spPr>
        <p:txBody>
          <a:bodyPr lIns="50800" tIns="50800" rIns="50800" bIns="50800" anchor="t">
            <a:normAutofit/>
          </a:bodyPr>
          <a:lstStyle/>
          <a:p>
            <a:pPr marL="0" indent="0" defTabSz="2292038">
              <a:spcBef>
                <a:spcPts val="4400"/>
              </a:spcBef>
              <a:buSzTx/>
              <a:buNone/>
              <a:defRPr sz="3759" b="1">
                <a:latin typeface="Graphik"/>
                <a:ea typeface="Graphik"/>
                <a:cs typeface="Graphik"/>
                <a:sym typeface="Graphik"/>
              </a:defRPr>
            </a:pPr>
            <a:r>
              <a:rPr sz="3750" dirty="0"/>
              <a:t>Best Trial:</a:t>
            </a:r>
          </a:p>
          <a:p>
            <a:pPr marL="1343660" lvl="2" indent="-429260" defTabSz="2292038">
              <a:spcBef>
                <a:spcPts val="4400"/>
              </a:spcBef>
              <a:buFont typeface="Wingdings"/>
              <a:buChar char="§"/>
              <a:defRPr sz="3759" b="1">
                <a:latin typeface="Graphik"/>
                <a:ea typeface="Graphik"/>
                <a:cs typeface="Graphik"/>
                <a:sym typeface="Graphik"/>
              </a:defRPr>
            </a:pPr>
            <a:r>
              <a:rPr sz="3750" b="0" dirty="0">
                <a:latin typeface="Graphik Light"/>
                <a:ea typeface="Graphik Light"/>
                <a:cs typeface="Graphik Light"/>
                <a:sym typeface="Graphik Light"/>
              </a:rPr>
              <a:t>AUC = </a:t>
            </a:r>
            <a:r>
              <a:rPr sz="3750" dirty="0"/>
              <a:t>0.97596</a:t>
            </a:r>
          </a:p>
          <a:p>
            <a:pPr marL="1343660" lvl="2" indent="-429260" defTabSz="2292038">
              <a:spcBef>
                <a:spcPts val="4400"/>
              </a:spcBef>
              <a:buFont typeface="Wingdings"/>
              <a:buChar char="§"/>
              <a:defRPr sz="3759"/>
            </a:pPr>
            <a:r>
              <a:rPr sz="3750" dirty="0" err="1"/>
              <a:t>learning_rate</a:t>
            </a:r>
            <a:r>
              <a:rPr sz="3750" dirty="0"/>
              <a:t> = 0.0806</a:t>
            </a:r>
          </a:p>
          <a:p>
            <a:pPr marL="1343660" lvl="2" indent="-429260" defTabSz="2292038">
              <a:spcBef>
                <a:spcPts val="4400"/>
              </a:spcBef>
              <a:buFont typeface="Wingdings"/>
              <a:buChar char="§"/>
              <a:defRPr sz="3759"/>
            </a:pPr>
            <a:r>
              <a:rPr sz="3750" dirty="0" err="1"/>
              <a:t>num_leaves</a:t>
            </a:r>
            <a:r>
              <a:rPr sz="3750" dirty="0"/>
              <a:t> = 187</a:t>
            </a:r>
          </a:p>
          <a:p>
            <a:pPr marL="1343660" lvl="2" indent="-429260" defTabSz="2292038">
              <a:spcBef>
                <a:spcPts val="4400"/>
              </a:spcBef>
              <a:buFont typeface="Wingdings"/>
              <a:buChar char="§"/>
              <a:defRPr sz="3759"/>
            </a:pPr>
            <a:r>
              <a:rPr sz="3750" err="1"/>
              <a:t>min_child_samples</a:t>
            </a:r>
            <a:r>
              <a:rPr sz="3750" dirty="0"/>
              <a:t> = 75</a:t>
            </a:r>
          </a:p>
          <a:p>
            <a:pPr marL="0" indent="0" defTabSz="2292038">
              <a:spcBef>
                <a:spcPts val="4400"/>
              </a:spcBef>
              <a:buSzTx/>
              <a:buNone/>
              <a:defRPr sz="3759"/>
            </a:pPr>
            <a:r>
              <a:rPr sz="3750" dirty="0"/>
              <a:t>Tuned model saved as </a:t>
            </a:r>
            <a:r>
              <a:rPr sz="3750" i="1" dirty="0" err="1">
                <a:latin typeface="Graphik"/>
                <a:ea typeface="Graphik"/>
                <a:cs typeface="Graphik"/>
                <a:sym typeface="Graphik"/>
              </a:rPr>
              <a:t>lgb_stacked_tuned.pkl</a:t>
            </a:r>
            <a:endParaRPr sz="3750" i="1" dirty="0" err="1">
              <a:latin typeface="Graphik"/>
              <a:ea typeface="Graphik"/>
              <a:cs typeface="Graphik"/>
            </a:endParaRPr>
          </a:p>
          <a:p>
            <a:pPr marL="0" indent="0" defTabSz="2292038">
              <a:spcBef>
                <a:spcPts val="4400"/>
              </a:spcBef>
              <a:buSzTx/>
              <a:buNone/>
              <a:defRPr sz="3759" b="1">
                <a:latin typeface="Graphik"/>
                <a:ea typeface="Graphik"/>
                <a:cs typeface="Graphik"/>
                <a:sym typeface="Graphik"/>
              </a:defRPr>
            </a:pPr>
            <a:r>
              <a:rPr sz="3750" dirty="0"/>
              <a:t>Why </a:t>
            </a:r>
            <a:r>
              <a:rPr sz="3750" dirty="0" err="1"/>
              <a:t>Optuna</a:t>
            </a:r>
            <a:r>
              <a:rPr sz="3750" dirty="0"/>
              <a:t>:</a:t>
            </a:r>
          </a:p>
          <a:p>
            <a:pPr marL="0" indent="0" defTabSz="2292038">
              <a:spcBef>
                <a:spcPts val="4400"/>
              </a:spcBef>
              <a:buSzTx/>
              <a:buNone/>
              <a:defRPr sz="3759"/>
            </a:pPr>
            <a:r>
              <a:rPr sz="3750" dirty="0" err="1"/>
              <a:t>Optuna’s</a:t>
            </a:r>
            <a:r>
              <a:rPr sz="3750" dirty="0"/>
              <a:t> Bayesian </a:t>
            </a:r>
            <a:r>
              <a:rPr sz="3750" dirty="0" err="1"/>
              <a:t>optimisation</a:t>
            </a:r>
            <a:r>
              <a:rPr sz="3750" dirty="0"/>
              <a:t> efficiently found optimal hyperparameters, significantly boosting AUC and </a:t>
            </a:r>
            <a:r>
              <a:rPr sz="3750" dirty="0" err="1"/>
              <a:t>generalisation</a:t>
            </a:r>
            <a:r>
              <a:rPr sz="3750" dirty="0"/>
              <a:t>.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Results (5-Fold CV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21">
              <a:defRPr sz="9500" spc="-95"/>
            </a:lvl1pPr>
          </a:lstStyle>
          <a:p>
            <a:r>
              <a:t>Results (5-Fold CV)</a:t>
            </a:r>
          </a:p>
        </p:txBody>
      </p:sp>
      <p:sp>
        <p:nvSpPr>
          <p:cNvPr id="206" name="Insight:…"/>
          <p:cNvSpPr txBox="1">
            <a:spLocks noGrp="1"/>
          </p:cNvSpPr>
          <p:nvPr>
            <p:ph type="body" idx="1"/>
          </p:nvPr>
        </p:nvSpPr>
        <p:spPr>
          <a:xfrm>
            <a:off x="1206500" y="2047784"/>
            <a:ext cx="21971000" cy="11633329"/>
          </a:xfrm>
          <a:prstGeom prst="rect">
            <a:avLst/>
          </a:prstGeom>
        </p:spPr>
        <p:txBody>
          <a:bodyPr lIns="50800" tIns="50800" rIns="50800" bIns="50800" anchor="t">
            <a:normAutofit/>
          </a:bodyPr>
          <a:lstStyle/>
          <a:p>
            <a:pPr marL="0" indent="0">
              <a:buSzTx/>
              <a:buNone/>
            </a:pPr>
            <a:endParaRPr/>
          </a:p>
          <a:p>
            <a:pPr marL="0" indent="0">
              <a:buSzTx/>
              <a:buNone/>
              <a:defRPr b="1">
                <a:latin typeface="Graphik"/>
                <a:ea typeface="Graphik"/>
                <a:cs typeface="Graphik"/>
                <a:sym typeface="Graphik"/>
              </a:defRPr>
            </a:pPr>
            <a:endParaRPr lang="en-US" dirty="0"/>
          </a:p>
          <a:p>
            <a:pPr marL="0" indent="0">
              <a:buSzTx/>
              <a:buNone/>
              <a:defRPr b="1">
                <a:latin typeface="Graphik"/>
                <a:ea typeface="Graphik"/>
                <a:cs typeface="Graphik"/>
                <a:sym typeface="Graphik"/>
              </a:defRPr>
            </a:pPr>
            <a:endParaRPr lang="en-US" dirty="0"/>
          </a:p>
          <a:p>
            <a:pPr marL="0" indent="0">
              <a:buSzTx/>
              <a:buNone/>
              <a:defRPr b="1">
                <a:latin typeface="Graphik"/>
                <a:ea typeface="Graphik"/>
                <a:cs typeface="Graphik"/>
                <a:sym typeface="Graphik"/>
              </a:defRPr>
            </a:pPr>
            <a:endParaRPr lang="en-US" dirty="0"/>
          </a:p>
          <a:p>
            <a:pPr marL="0" indent="0">
              <a:buSzTx/>
              <a:buNone/>
              <a:defRPr b="1">
                <a:latin typeface="Graphik"/>
                <a:ea typeface="Graphik"/>
                <a:cs typeface="Graphik"/>
                <a:sym typeface="Graphik"/>
              </a:defRPr>
            </a:pPr>
            <a:endParaRPr lang="en-US" dirty="0"/>
          </a:p>
          <a:p>
            <a:pPr marL="0" indent="0">
              <a:buSzTx/>
              <a:buNone/>
              <a:defRPr b="1">
                <a:latin typeface="Graphik"/>
                <a:ea typeface="Graphik"/>
                <a:cs typeface="Graphik"/>
                <a:sym typeface="Graphik"/>
              </a:defRPr>
            </a:pPr>
            <a:r>
              <a:rPr dirty="0"/>
              <a:t>Insight:</a:t>
            </a:r>
          </a:p>
          <a:p>
            <a:pPr marL="0" indent="0">
              <a:buSzTx/>
              <a:buNone/>
              <a:defRPr b="1">
                <a:latin typeface="Graphik"/>
                <a:ea typeface="Graphik"/>
                <a:cs typeface="Graphik"/>
                <a:sym typeface="Graphik"/>
              </a:defRPr>
            </a:pPr>
            <a:r>
              <a:rPr b="0" dirty="0" err="1">
                <a:latin typeface="Graphik Light"/>
                <a:ea typeface="Graphik Light"/>
                <a:cs typeface="Graphik Light"/>
                <a:sym typeface="Graphik Light"/>
              </a:rPr>
              <a:t>LightGBM</a:t>
            </a:r>
            <a:r>
              <a:rPr b="0" dirty="0">
                <a:latin typeface="Graphik Light"/>
                <a:ea typeface="Graphik Light"/>
                <a:cs typeface="Graphik Light"/>
                <a:sym typeface="Graphik Light"/>
              </a:rPr>
              <a:t> effectively integrated deep and handcrafted features, outperforming the standalone CNN by </a:t>
            </a:r>
            <a:r>
              <a:rPr dirty="0"/>
              <a:t>~4 AUC</a:t>
            </a:r>
            <a:r>
              <a:rPr b="0" dirty="0">
                <a:latin typeface="Graphik Light"/>
                <a:ea typeface="Graphik Light"/>
                <a:cs typeface="Graphik Light"/>
                <a:sym typeface="Graphik Light"/>
              </a:rPr>
              <a:t> points.</a:t>
            </a:r>
            <a:endParaRPr b="0" dirty="0">
              <a:latin typeface="Graphik Light"/>
              <a:ea typeface="Graphik Light"/>
              <a:cs typeface="Graphik Light"/>
            </a:endParaRPr>
          </a:p>
        </p:txBody>
      </p:sp>
      <p:pic>
        <p:nvPicPr>
          <p:cNvPr id="207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500" y="3229568"/>
            <a:ext cx="8938215" cy="421089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Ensemble Calibr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21">
              <a:defRPr sz="9500" spc="-95"/>
            </a:lvl1pPr>
          </a:lstStyle>
          <a:p>
            <a:r>
              <a:t>Ensemble Calibration</a:t>
            </a:r>
          </a:p>
        </p:txBody>
      </p:sp>
      <p:sp>
        <p:nvSpPr>
          <p:cNvPr id="210" name="Why Calibration?…"/>
          <p:cNvSpPr txBox="1">
            <a:spLocks noGrp="1"/>
          </p:cNvSpPr>
          <p:nvPr>
            <p:ph type="body" idx="1"/>
          </p:nvPr>
        </p:nvSpPr>
        <p:spPr>
          <a:xfrm>
            <a:off x="1206500" y="2688342"/>
            <a:ext cx="21971000" cy="10946937"/>
          </a:xfrm>
          <a:prstGeom prst="rect">
            <a:avLst/>
          </a:prstGeom>
        </p:spPr>
        <p:txBody>
          <a:bodyPr lIns="50800" tIns="50800" rIns="50800" bIns="50800" anchor="t">
            <a:normAutofit/>
          </a:bodyPr>
          <a:lstStyle/>
          <a:p>
            <a:pPr marL="0" indent="0" defTabSz="1950671">
              <a:spcBef>
                <a:spcPts val="3700"/>
              </a:spcBef>
              <a:buSzTx/>
              <a:buNone/>
              <a:defRPr sz="3200" b="1">
                <a:latin typeface="Graphik"/>
                <a:ea typeface="Graphik"/>
                <a:cs typeface="Graphik"/>
                <a:sym typeface="Graphik"/>
              </a:defRPr>
            </a:pPr>
            <a:r>
              <a:rPr dirty="0"/>
              <a:t>Why Calibration?</a:t>
            </a:r>
          </a:p>
          <a:p>
            <a:pPr marL="0" indent="0" defTabSz="1950671">
              <a:spcBef>
                <a:spcPts val="3700"/>
              </a:spcBef>
              <a:buSzTx/>
              <a:buNone/>
              <a:defRPr sz="3200"/>
            </a:pPr>
            <a:r>
              <a:rPr dirty="0"/>
              <a:t>CNN outputs were slightly overconfident → needed smoother, reliable probabilities.</a:t>
            </a:r>
          </a:p>
          <a:p>
            <a:pPr marL="0" indent="0" defTabSz="365760">
              <a:spcBef>
                <a:spcPts val="900"/>
              </a:spcBef>
              <a:buSzTx/>
              <a:buNone/>
              <a:defRPr sz="960"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marL="0" indent="0" defTabSz="1950671">
              <a:spcBef>
                <a:spcPts val="3700"/>
              </a:spcBef>
              <a:buSzTx/>
              <a:buNone/>
              <a:defRPr sz="3200" b="1">
                <a:latin typeface="Graphik"/>
                <a:ea typeface="Graphik"/>
                <a:cs typeface="Graphik"/>
                <a:sym typeface="Graphik"/>
              </a:defRPr>
            </a:pPr>
            <a:r>
              <a:rPr dirty="0"/>
              <a:t>Method:</a:t>
            </a:r>
          </a:p>
          <a:p>
            <a:pPr marL="1280160" lvl="2" indent="-365760" defTabSz="1950671">
              <a:spcBef>
                <a:spcPts val="3700"/>
              </a:spcBef>
              <a:buFont typeface="Wingdings"/>
              <a:buChar char="§"/>
              <a:defRPr sz="3200" b="1">
                <a:latin typeface="Graphik"/>
                <a:ea typeface="Graphik"/>
                <a:cs typeface="Graphik"/>
                <a:sym typeface="Graphik"/>
              </a:defRPr>
            </a:pPr>
            <a:r>
              <a:rPr b="0" dirty="0">
                <a:latin typeface="Graphik Light"/>
                <a:ea typeface="Graphik Light"/>
                <a:cs typeface="Graphik Light"/>
                <a:sym typeface="Graphik Light"/>
              </a:rPr>
              <a:t>Combined CNN + LGBM OOF predictions</a:t>
            </a:r>
            <a:endParaRPr b="0" dirty="0">
              <a:latin typeface="Graphik Light"/>
              <a:ea typeface="Graphik Light"/>
              <a:cs typeface="Graphik Light"/>
            </a:endParaRPr>
          </a:p>
          <a:p>
            <a:pPr marL="1280160" lvl="2" indent="-365760" defTabSz="1950671">
              <a:spcBef>
                <a:spcPts val="3700"/>
              </a:spcBef>
              <a:buFont typeface="Wingdings"/>
              <a:buChar char="§"/>
              <a:defRPr sz="3200"/>
            </a:pPr>
            <a:r>
              <a:rPr dirty="0"/>
              <a:t>Trained Logistic Regression Calibrator</a:t>
            </a:r>
          </a:p>
          <a:p>
            <a:pPr marL="1280160" lvl="2" indent="-365760" defTabSz="1950671">
              <a:spcBef>
                <a:spcPts val="3700"/>
              </a:spcBef>
              <a:buFont typeface="Wingdings"/>
              <a:buChar char="§"/>
              <a:defRPr sz="3200"/>
            </a:pPr>
            <a:r>
              <a:rPr dirty="0"/>
              <a:t>Generated calibrated test predictions</a:t>
            </a:r>
            <a:endParaRPr i="1">
              <a:latin typeface="Graphik"/>
              <a:ea typeface="Graphik"/>
              <a:cs typeface="Graphik"/>
            </a:endParaRPr>
          </a:p>
          <a:p>
            <a:pPr marL="0" indent="0" defTabSz="1950671">
              <a:spcBef>
                <a:spcPts val="3700"/>
              </a:spcBef>
              <a:buSzTx/>
              <a:buNone/>
              <a:defRPr sz="3200" b="1">
                <a:latin typeface="Graphik"/>
                <a:ea typeface="Graphik"/>
                <a:cs typeface="Graphik"/>
                <a:sym typeface="Graphik"/>
              </a:defRPr>
            </a:pPr>
            <a:r>
              <a:rPr dirty="0"/>
              <a:t>Result:</a:t>
            </a:r>
          </a:p>
          <a:p>
            <a:pPr marL="0" indent="0" defTabSz="1950671">
              <a:spcBef>
                <a:spcPts val="3700"/>
              </a:spcBef>
              <a:buSzTx/>
              <a:buNone/>
              <a:defRPr sz="3200"/>
            </a:pPr>
            <a:endParaRPr/>
          </a:p>
        </p:txBody>
      </p:sp>
      <p:pic>
        <p:nvPicPr>
          <p:cNvPr id="211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500" y="9928292"/>
            <a:ext cx="12653014" cy="248911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Robustness &amp; Generalis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21">
              <a:defRPr sz="9500" spc="-95"/>
            </a:lvl1pPr>
          </a:lstStyle>
          <a:p>
            <a:r>
              <a:t>Robustness &amp; Generalisation</a:t>
            </a:r>
          </a:p>
        </p:txBody>
      </p:sp>
      <p:sp>
        <p:nvSpPr>
          <p:cNvPr id="214" name="To ensure strong performance on unseen data, our system was designed with mechanisms such as:…"/>
          <p:cNvSpPr txBox="1">
            <a:spLocks noGrp="1"/>
          </p:cNvSpPr>
          <p:nvPr>
            <p:ph type="body" idx="1"/>
          </p:nvPr>
        </p:nvSpPr>
        <p:spPr>
          <a:xfrm>
            <a:off x="1206500" y="2688342"/>
            <a:ext cx="21971000" cy="10946937"/>
          </a:xfrm>
          <a:prstGeom prst="rect">
            <a:avLst/>
          </a:prstGeom>
        </p:spPr>
        <p:txBody>
          <a:bodyPr lIns="50800" tIns="50800" rIns="50800" bIns="50800" anchor="t">
            <a:normAutofit/>
          </a:bodyPr>
          <a:lstStyle/>
          <a:p>
            <a:pPr marL="0" indent="0">
              <a:buSzTx/>
              <a:buNone/>
            </a:pPr>
            <a:r>
              <a:rPr dirty="0"/>
              <a:t>To ensure strong performance on unseen data, our system was designed with mechanisms such as:</a:t>
            </a:r>
          </a:p>
          <a:p>
            <a:pPr lvl="2">
              <a:buFont typeface="Wingdings"/>
              <a:buChar char="§"/>
              <a:defRPr b="1">
                <a:latin typeface="Graphik"/>
                <a:ea typeface="Graphik"/>
                <a:cs typeface="Graphik"/>
                <a:sym typeface="Graphik"/>
              </a:defRPr>
            </a:pPr>
            <a:r>
              <a:rPr dirty="0"/>
              <a:t>5-Fold Stratified CV → </a:t>
            </a:r>
            <a:r>
              <a:rPr b="0" dirty="0">
                <a:latin typeface="Graphik Light"/>
                <a:ea typeface="Graphik Light"/>
                <a:cs typeface="Graphik Light"/>
                <a:sym typeface="Graphik Light"/>
              </a:rPr>
              <a:t>prevents overfitting</a:t>
            </a:r>
            <a:endParaRPr b="0" dirty="0">
              <a:latin typeface="Graphik Light"/>
              <a:ea typeface="Graphik Light"/>
              <a:cs typeface="Graphik Light"/>
            </a:endParaRPr>
          </a:p>
          <a:p>
            <a:pPr lvl="2">
              <a:buFont typeface="Wingdings"/>
              <a:buChar char="§"/>
              <a:defRPr b="1">
                <a:latin typeface="Graphik"/>
                <a:ea typeface="Graphik"/>
                <a:cs typeface="Graphik"/>
                <a:sym typeface="Graphik"/>
              </a:defRPr>
            </a:pPr>
            <a:r>
              <a:rPr dirty="0"/>
              <a:t>Test-Time Augmentation → </a:t>
            </a:r>
            <a:r>
              <a:rPr b="0" dirty="0">
                <a:latin typeface="Graphik Light"/>
                <a:ea typeface="Graphik Light"/>
                <a:cs typeface="Graphik Light"/>
                <a:sym typeface="Graphik Light"/>
              </a:rPr>
              <a:t>increases resilience to spatial variations</a:t>
            </a:r>
            <a:endParaRPr b="0" dirty="0">
              <a:latin typeface="Graphik Light"/>
              <a:ea typeface="Graphik Light"/>
              <a:cs typeface="Graphik Light"/>
            </a:endParaRPr>
          </a:p>
          <a:p>
            <a:pPr lvl="2">
              <a:buFont typeface="Wingdings"/>
              <a:buChar char="§"/>
              <a:defRPr b="1">
                <a:latin typeface="Graphik"/>
                <a:ea typeface="Graphik"/>
                <a:cs typeface="Graphik"/>
                <a:sym typeface="Graphik"/>
              </a:defRPr>
            </a:pPr>
            <a:r>
              <a:rPr dirty="0"/>
              <a:t>Feature diversity (spatial + frequency) →  </a:t>
            </a:r>
            <a:r>
              <a:rPr b="0" dirty="0">
                <a:latin typeface="Graphik Light"/>
                <a:ea typeface="Graphik Light"/>
                <a:cs typeface="Graphik Light"/>
                <a:sym typeface="Graphik Light"/>
              </a:rPr>
              <a:t>improves </a:t>
            </a:r>
            <a:r>
              <a:rPr b="0" dirty="0" err="1">
                <a:latin typeface="Graphik Light"/>
                <a:ea typeface="Graphik Light"/>
                <a:cs typeface="Graphik Light"/>
                <a:sym typeface="Graphik Light"/>
              </a:rPr>
              <a:t>generalisation</a:t>
            </a:r>
            <a:r>
              <a:rPr b="0" dirty="0">
                <a:latin typeface="Graphik Light"/>
                <a:ea typeface="Graphik Light"/>
                <a:cs typeface="Graphik Light"/>
                <a:sym typeface="Graphik Light"/>
              </a:rPr>
              <a:t> across image domains.</a:t>
            </a:r>
            <a:endParaRPr b="0" dirty="0">
              <a:latin typeface="Graphik Light"/>
              <a:ea typeface="Graphik Light"/>
              <a:cs typeface="Graphik Light"/>
            </a:endParaRPr>
          </a:p>
          <a:p>
            <a:pPr lvl="2">
              <a:buFont typeface="Wingdings"/>
              <a:buChar char="§"/>
              <a:defRPr b="1">
                <a:latin typeface="Graphik"/>
                <a:ea typeface="Graphik"/>
                <a:cs typeface="Graphik"/>
                <a:sym typeface="Graphik"/>
              </a:defRPr>
            </a:pPr>
            <a:r>
              <a:rPr dirty="0"/>
              <a:t>No reliance on proprietary pre-trained weights</a:t>
            </a:r>
            <a:r>
              <a:rPr b="0" dirty="0">
                <a:latin typeface="Graphik Light"/>
                <a:ea typeface="Graphik Light"/>
                <a:cs typeface="Graphik Light"/>
                <a:sym typeface="Graphik Light"/>
              </a:rPr>
              <a:t> → ensures fair, reproducible results.</a:t>
            </a:r>
            <a:endParaRPr b="0" dirty="0">
              <a:latin typeface="Graphik Light"/>
              <a:ea typeface="Graphik Light"/>
              <a:cs typeface="Graphik Light"/>
            </a:endParaRPr>
          </a:p>
          <a:p>
            <a:pPr marL="0" indent="0">
              <a:buSzTx/>
              <a:buNone/>
              <a:defRPr b="1">
                <a:latin typeface="Graphik"/>
                <a:ea typeface="Graphik"/>
                <a:cs typeface="Graphik"/>
                <a:sym typeface="Graphik"/>
              </a:defRPr>
            </a:pPr>
            <a:r>
              <a:rPr dirty="0"/>
              <a:t>Outcome:</a:t>
            </a:r>
          </a:p>
          <a:p>
            <a:pPr marL="0" indent="0">
              <a:buSzTx/>
              <a:buNone/>
              <a:defRPr b="1">
                <a:latin typeface="Graphik"/>
                <a:ea typeface="Graphik"/>
                <a:cs typeface="Graphik"/>
                <a:sym typeface="Graphik"/>
              </a:defRPr>
            </a:pPr>
            <a:r>
              <a:rPr b="0" dirty="0">
                <a:latin typeface="Graphik Light"/>
                <a:ea typeface="Graphik Light"/>
                <a:cs typeface="Graphik Light"/>
                <a:sym typeface="Graphik Light"/>
              </a:rPr>
              <a:t>Strong cross-domain </a:t>
            </a:r>
            <a:r>
              <a:rPr b="0" dirty="0" err="1">
                <a:latin typeface="Graphik Light"/>
                <a:ea typeface="Graphik Light"/>
                <a:cs typeface="Graphik Light"/>
                <a:sym typeface="Graphik Light"/>
              </a:rPr>
              <a:t>generalisation</a:t>
            </a:r>
            <a:r>
              <a:rPr b="0" dirty="0">
                <a:latin typeface="Graphik Light"/>
                <a:ea typeface="Graphik Light"/>
                <a:cs typeface="Graphik Light"/>
                <a:sym typeface="Graphik Light"/>
              </a:rPr>
              <a:t> and consistent AUC on unseen samples</a:t>
            </a:r>
            <a:endParaRPr b="0" dirty="0">
              <a:latin typeface="Graphik Light"/>
              <a:ea typeface="Graphik Light"/>
              <a:cs typeface="Graphik Light"/>
            </a:endParaRP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Challenges and Solutio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21">
              <a:defRPr sz="9500" spc="-95"/>
            </a:lvl1pPr>
          </a:lstStyle>
          <a:p>
            <a:r>
              <a:t>Challenges and Solutions</a:t>
            </a:r>
          </a:p>
        </p:txBody>
      </p:sp>
      <p:sp>
        <p:nvSpPr>
          <p:cNvPr id="217" name="Throughout model development, several technical challenges were encountered and systematically resolved.…"/>
          <p:cNvSpPr txBox="1">
            <a:spLocks noGrp="1"/>
          </p:cNvSpPr>
          <p:nvPr>
            <p:ph type="body" idx="1"/>
          </p:nvPr>
        </p:nvSpPr>
        <p:spPr>
          <a:xfrm>
            <a:off x="1206500" y="2688342"/>
            <a:ext cx="21971000" cy="10946937"/>
          </a:xfrm>
          <a:prstGeom prst="rect">
            <a:avLst/>
          </a:prstGeom>
        </p:spPr>
        <p:txBody>
          <a:bodyPr lIns="50800" tIns="50800" rIns="50800" bIns="50800" anchor="t">
            <a:normAutofit/>
          </a:bodyPr>
          <a:lstStyle/>
          <a:p>
            <a:pPr marL="0" indent="0">
              <a:buSzTx/>
              <a:buNone/>
            </a:pPr>
            <a:endParaRPr/>
          </a:p>
          <a:p>
            <a:pPr marL="0" indent="0">
              <a:buSzTx/>
              <a:buNone/>
            </a:pPr>
            <a:endParaRPr lang="en-US" dirty="0"/>
          </a:p>
          <a:p>
            <a:pPr marL="0" indent="0">
              <a:buSzTx/>
              <a:buNone/>
            </a:pPr>
            <a:endParaRPr lang="en-US" dirty="0"/>
          </a:p>
          <a:p>
            <a:pPr marL="0" indent="0">
              <a:buSzTx/>
              <a:buNone/>
            </a:pPr>
            <a:endParaRPr lang="en-US" dirty="0"/>
          </a:p>
          <a:p>
            <a:pPr marL="0" indent="0">
              <a:buSzTx/>
              <a:buNone/>
            </a:pPr>
            <a:endParaRPr lang="en-US" dirty="0"/>
          </a:p>
          <a:p>
            <a:r>
              <a:rPr dirty="0"/>
              <a:t>Throughout model development, several technical challenges were encountered and systematically resolved. </a:t>
            </a:r>
          </a:p>
          <a:p>
            <a:r>
              <a:rPr dirty="0"/>
              <a:t>These proactive measures ensured that the final ensemble was not only </a:t>
            </a:r>
            <a:r>
              <a:rPr b="1" dirty="0">
                <a:latin typeface="Graphik"/>
                <a:ea typeface="Graphik"/>
                <a:cs typeface="Graphik"/>
                <a:sym typeface="Graphik"/>
              </a:rPr>
              <a:t>accurate</a:t>
            </a:r>
            <a:r>
              <a:rPr dirty="0"/>
              <a:t> but also </a:t>
            </a:r>
            <a:r>
              <a:rPr b="1" dirty="0">
                <a:latin typeface="Graphik"/>
                <a:ea typeface="Graphik"/>
                <a:cs typeface="Graphik"/>
                <a:sym typeface="Graphik"/>
              </a:rPr>
              <a:t>reliable</a:t>
            </a:r>
            <a:r>
              <a:rPr dirty="0"/>
              <a:t>, </a:t>
            </a:r>
            <a:r>
              <a:rPr b="1" dirty="0">
                <a:latin typeface="Graphik"/>
                <a:ea typeface="Graphik"/>
                <a:cs typeface="Graphik"/>
                <a:sym typeface="Graphik"/>
              </a:rPr>
              <a:t>reproducible</a:t>
            </a:r>
            <a:r>
              <a:rPr dirty="0"/>
              <a:t>, and</a:t>
            </a:r>
            <a:r>
              <a:rPr b="1" dirty="0">
                <a:latin typeface="Graphik"/>
                <a:ea typeface="Graphik"/>
                <a:cs typeface="Graphik"/>
                <a:sym typeface="Graphik"/>
              </a:rPr>
              <a:t> free from systemic errors</a:t>
            </a:r>
            <a:r>
              <a:rPr dirty="0"/>
              <a:t> — a crucial factor for achieving trustworthy deepfake detection in </a:t>
            </a:r>
            <a:r>
              <a:rPr b="1" dirty="0">
                <a:latin typeface="Graphik"/>
                <a:ea typeface="Graphik"/>
                <a:cs typeface="Graphik"/>
                <a:sym typeface="Graphik"/>
              </a:rPr>
              <a:t>real-world deployment</a:t>
            </a:r>
            <a:r>
              <a:rPr dirty="0"/>
              <a:t>.</a:t>
            </a:r>
          </a:p>
        </p:txBody>
      </p:sp>
      <p:pic>
        <p:nvPicPr>
          <p:cNvPr id="218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742" y="3144402"/>
            <a:ext cx="12616925" cy="478573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Scalability &amp; Efficienc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21">
              <a:defRPr sz="9500" spc="-95"/>
            </a:lvl1pPr>
          </a:lstStyle>
          <a:p>
            <a:r>
              <a:t>Scalability &amp; Efficiency</a:t>
            </a:r>
          </a:p>
        </p:txBody>
      </p:sp>
      <p:sp>
        <p:nvSpPr>
          <p:cNvPr id="221" name="Compact CNN: &lt;1M parameters…"/>
          <p:cNvSpPr txBox="1">
            <a:spLocks noGrp="1"/>
          </p:cNvSpPr>
          <p:nvPr>
            <p:ph type="body" idx="1"/>
          </p:nvPr>
        </p:nvSpPr>
        <p:spPr>
          <a:xfrm>
            <a:off x="1206500" y="3116616"/>
            <a:ext cx="21971000" cy="10518663"/>
          </a:xfrm>
          <a:prstGeom prst="rect">
            <a:avLst/>
          </a:prstGeom>
        </p:spPr>
        <p:txBody>
          <a:bodyPr/>
          <a:lstStyle/>
          <a:p>
            <a:r>
              <a:t>Compact CNN: &lt;1M parameters</a:t>
            </a:r>
          </a:p>
          <a:p>
            <a:r>
              <a:t>Inference speed: ~1.2 ms/image on GPU</a:t>
            </a:r>
          </a:p>
          <a:p>
            <a:r>
              <a:t>No heavy pre-trained dependencies</a:t>
            </a:r>
          </a:p>
          <a:p>
            <a:r>
              <a:t>Efficient memory footprint for large datasets</a:t>
            </a:r>
          </a:p>
          <a:p>
            <a:r>
              <a:t>Easily extendable to video frame-level detection</a:t>
            </a:r>
          </a:p>
          <a:p>
            <a:pPr marL="0" indent="0">
              <a:buSzTx/>
              <a:buNone/>
              <a:defRPr b="1">
                <a:latin typeface="Graphik"/>
                <a:ea typeface="Graphik"/>
                <a:cs typeface="Graphik"/>
                <a:sym typeface="Graphik"/>
              </a:defRPr>
            </a:pPr>
            <a:r>
              <a:t>Why it matters:</a:t>
            </a:r>
          </a:p>
          <a:p>
            <a:pPr marL="0" indent="0">
              <a:buSzTx/>
              <a:buNone/>
              <a:defRPr b="1">
                <a:latin typeface="Graphik"/>
                <a:ea typeface="Graphik"/>
                <a:cs typeface="Graphik"/>
                <a:sym typeface="Graphik"/>
              </a:defRPr>
            </a:pPr>
            <a:r>
              <a:rPr b="0">
                <a:latin typeface="Graphik Light"/>
                <a:ea typeface="Graphik Light"/>
                <a:cs typeface="Graphik Light"/>
                <a:sym typeface="Graphik Light"/>
              </a:rPr>
              <a:t>Ensures the system is deployable at scale — in production pipelines, edge devices, or moderation systems.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Conclus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21">
              <a:defRPr sz="9500" spc="-95"/>
            </a:lvl1pPr>
          </a:lstStyle>
          <a:p>
            <a:r>
              <a:t>Conclusion</a:t>
            </a:r>
          </a:p>
        </p:txBody>
      </p:sp>
      <p:sp>
        <p:nvSpPr>
          <p:cNvPr id="224" name="The AIML Enthusiasts Deepfake Detection System combines deep learning precision with handcrafted interpretability.…"/>
          <p:cNvSpPr txBox="1">
            <a:spLocks noGrp="1"/>
          </p:cNvSpPr>
          <p:nvPr>
            <p:ph type="body" idx="1"/>
          </p:nvPr>
        </p:nvSpPr>
        <p:spPr>
          <a:xfrm>
            <a:off x="1206499" y="2902479"/>
            <a:ext cx="21971001" cy="10946937"/>
          </a:xfrm>
          <a:prstGeom prst="rect">
            <a:avLst/>
          </a:prstGeom>
        </p:spPr>
        <p:txBody>
          <a:bodyPr lIns="50800" tIns="50800" rIns="50800" bIns="50800" anchor="t">
            <a:normAutofit/>
          </a:bodyPr>
          <a:lstStyle/>
          <a:p>
            <a:pPr marL="0" indent="0" defTabSz="2170121">
              <a:spcBef>
                <a:spcPts val="4100"/>
              </a:spcBef>
              <a:buSzTx/>
              <a:buNone/>
              <a:defRPr sz="3559"/>
            </a:pPr>
            <a:r>
              <a:rPr sz="3550" dirty="0"/>
              <a:t>The AIML Enthusiasts Deepfake Detection System combines deep learning precision with handcrafted interpretability.</a:t>
            </a:r>
          </a:p>
          <a:p>
            <a:pPr marL="0" indent="0" defTabSz="2170121">
              <a:spcBef>
                <a:spcPts val="4100"/>
              </a:spcBef>
              <a:buSzTx/>
              <a:buNone/>
              <a:defRPr sz="3559"/>
            </a:pPr>
            <a:r>
              <a:rPr sz="3550" dirty="0"/>
              <a:t>Through calibrated hybrid stacking, we achieved:</a:t>
            </a:r>
          </a:p>
          <a:p>
            <a:pPr marL="1320800" lvl="2" indent="-406400" defTabSz="2170121">
              <a:spcBef>
                <a:spcPts val="4100"/>
              </a:spcBef>
              <a:buFont typeface="Wingdings"/>
              <a:buChar char="§"/>
              <a:defRPr sz="3559" b="1">
                <a:latin typeface="Graphik"/>
                <a:ea typeface="Graphik"/>
                <a:cs typeface="Graphik"/>
                <a:sym typeface="Graphik"/>
              </a:defRPr>
            </a:pPr>
            <a:r>
              <a:rPr sz="3550" dirty="0"/>
              <a:t>OOF AUC = 0.963, Calibrated AUC = 0.964</a:t>
            </a:r>
          </a:p>
          <a:p>
            <a:pPr marL="1320800" lvl="2" indent="-406400" defTabSz="2170121">
              <a:spcBef>
                <a:spcPts val="4100"/>
              </a:spcBef>
              <a:buFont typeface="Wingdings"/>
              <a:buChar char="§"/>
              <a:defRPr sz="3559"/>
            </a:pPr>
            <a:r>
              <a:rPr sz="3550" dirty="0"/>
              <a:t>Reliable, well-separated real vs fake probabilities</a:t>
            </a:r>
          </a:p>
          <a:p>
            <a:pPr marL="1320800" lvl="2" indent="-406400" defTabSz="2170121">
              <a:spcBef>
                <a:spcPts val="4100"/>
              </a:spcBef>
              <a:buFont typeface="Wingdings"/>
              <a:buChar char="§"/>
              <a:defRPr sz="3559"/>
            </a:pPr>
            <a:r>
              <a:rPr sz="3550" dirty="0"/>
              <a:t>Strong </a:t>
            </a:r>
            <a:r>
              <a:rPr sz="3550" err="1"/>
              <a:t>generalisation</a:t>
            </a:r>
            <a:r>
              <a:rPr sz="3550" dirty="0"/>
              <a:t> and deployment efficiency</a:t>
            </a:r>
          </a:p>
          <a:p>
            <a:pPr marL="0" indent="0" defTabSz="2170121">
              <a:spcBef>
                <a:spcPts val="4100"/>
              </a:spcBef>
              <a:buSzTx/>
              <a:buNone/>
              <a:defRPr sz="3559" b="1">
                <a:latin typeface="Graphik"/>
                <a:ea typeface="Graphik"/>
                <a:cs typeface="Graphik"/>
                <a:sym typeface="Graphik"/>
              </a:defRPr>
            </a:pPr>
            <a:r>
              <a:rPr sz="3550" dirty="0"/>
              <a:t>Final Outcome:</a:t>
            </a:r>
          </a:p>
          <a:p>
            <a:pPr marL="0" indent="0" defTabSz="2170121">
              <a:spcBef>
                <a:spcPts val="4100"/>
              </a:spcBef>
              <a:buSzTx/>
              <a:buNone/>
              <a:defRPr sz="3559"/>
            </a:pPr>
            <a:r>
              <a:rPr sz="3550" dirty="0"/>
              <a:t>A robust, interpretable, and scalable deepfake detection framework — designed for real-world adoption and continuous improvement.</a:t>
            </a:r>
          </a:p>
          <a:p>
            <a:pPr marL="0" indent="0" defTabSz="2170121">
              <a:spcBef>
                <a:spcPts val="4100"/>
              </a:spcBef>
              <a:buSzTx/>
              <a:buNone/>
              <a:defRPr sz="3559" b="1">
                <a:latin typeface="Graphik"/>
                <a:ea typeface="Graphik"/>
                <a:cs typeface="Graphik"/>
                <a:sym typeface="Graphik"/>
              </a:defRPr>
            </a:pPr>
            <a:r>
              <a:rPr sz="3550" dirty="0" err="1"/>
              <a:t>Github</a:t>
            </a:r>
            <a:r>
              <a:rPr sz="3550" dirty="0"/>
              <a:t>: </a:t>
            </a:r>
            <a:r>
              <a:rPr sz="3550" u="sng" dirty="0">
                <a:solidFill>
                  <a:srgbClr val="00B0F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https://github.com/sri-sruthi/AIML-Enthusiasts-Deepfake-Detection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Referenc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21">
              <a:defRPr sz="9500" spc="-95"/>
            </a:lvl1pPr>
          </a:lstStyle>
          <a:p>
            <a:r>
              <a:t>References</a:t>
            </a:r>
          </a:p>
        </p:txBody>
      </p:sp>
      <p:sp>
        <p:nvSpPr>
          <p:cNvPr id="227" name="OpenCV, scikit-image, LightGBM, Optuna, TensorFlow Documentation.…"/>
          <p:cNvSpPr txBox="1">
            <a:spLocks noGrp="1"/>
          </p:cNvSpPr>
          <p:nvPr>
            <p:ph type="body" idx="1"/>
          </p:nvPr>
        </p:nvSpPr>
        <p:spPr>
          <a:xfrm>
            <a:off x="1206500" y="2902479"/>
            <a:ext cx="21971000" cy="10946937"/>
          </a:xfrm>
          <a:prstGeom prst="rect">
            <a:avLst/>
          </a:prstGeom>
        </p:spPr>
        <p:txBody>
          <a:bodyPr/>
          <a:lstStyle/>
          <a:p>
            <a:r>
              <a:t>OpenCV, scikit-image, LightGBM, Optuna, TensorFlow Documentation.</a:t>
            </a:r>
          </a:p>
          <a:p>
            <a:r>
              <a:t>“Error Level Analysis for Image Forensics,” Neil Krawetz.</a:t>
            </a:r>
          </a:p>
          <a:p>
            <a:r>
              <a:t>Deepfake Detection Hackathon Dataset (2025).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37_MinimalistDark">
  <a:themeElements>
    <a:clrScheme name="37_MinimalistDark">
      <a:dk1>
        <a:srgbClr val="4B6079"/>
      </a:dk1>
      <a:lt1>
        <a:srgbClr val="FFFFFF"/>
      </a:lt1>
      <a:dk2>
        <a:srgbClr val="6F6F6F"/>
      </a:dk2>
      <a:lt2>
        <a:srgbClr val="D5D5D5"/>
      </a:lt2>
      <a:accent1>
        <a:srgbClr val="9BAABB"/>
      </a:accent1>
      <a:accent2>
        <a:srgbClr val="4CECD6"/>
      </a:accent2>
      <a:accent3>
        <a:srgbClr val="31FD29"/>
      </a:accent3>
      <a:accent4>
        <a:srgbClr val="FEFB00"/>
      </a:accent4>
      <a:accent5>
        <a:srgbClr val="F8ADB9"/>
      </a:accent5>
      <a:accent6>
        <a:srgbClr val="DE9DFE"/>
      </a:accent6>
      <a:hlink>
        <a:srgbClr val="0000FF"/>
      </a:hlink>
      <a:folHlink>
        <a:srgbClr val="FF00FF"/>
      </a:folHlink>
    </a:clrScheme>
    <a:fontScheme name="37_MinimalistDark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7_MinimalistDar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chemeClr val="accent1">
                <a:satOff val="5092"/>
                <a:lumOff val="-28652"/>
              </a:schemeClr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37_MinimalistDark">
  <a:themeElements>
    <a:clrScheme name="37_MinimalistDark">
      <a:dk1>
        <a:srgbClr val="000000"/>
      </a:dk1>
      <a:lt1>
        <a:srgbClr val="FFFFFF"/>
      </a:lt1>
      <a:dk2>
        <a:srgbClr val="6F6F6F"/>
      </a:dk2>
      <a:lt2>
        <a:srgbClr val="D5D5D5"/>
      </a:lt2>
      <a:accent1>
        <a:srgbClr val="9BAABB"/>
      </a:accent1>
      <a:accent2>
        <a:srgbClr val="4CECD6"/>
      </a:accent2>
      <a:accent3>
        <a:srgbClr val="31FD29"/>
      </a:accent3>
      <a:accent4>
        <a:srgbClr val="FEFB00"/>
      </a:accent4>
      <a:accent5>
        <a:srgbClr val="F8ADB9"/>
      </a:accent5>
      <a:accent6>
        <a:srgbClr val="DE9DFE"/>
      </a:accent6>
      <a:hlink>
        <a:srgbClr val="0000FF"/>
      </a:hlink>
      <a:folHlink>
        <a:srgbClr val="FF00FF"/>
      </a:folHlink>
    </a:clrScheme>
    <a:fontScheme name="37_MinimalistDark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7_MinimalistDar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chemeClr val="accent1">
                <a:satOff val="5092"/>
                <a:lumOff val="-28652"/>
              </a:schemeClr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37_MinimalistDark</vt:lpstr>
      <vt:lpstr>Deepfake Detection using Hybrid CNN–LightGBM Ensemble</vt:lpstr>
      <vt:lpstr>Problem Overview</vt:lpstr>
      <vt:lpstr>Our Approach</vt:lpstr>
      <vt:lpstr>Dataset Description</vt:lpstr>
      <vt:lpstr>Feature Extraction</vt:lpstr>
      <vt:lpstr>CNN-Based Feature Embedding</vt:lpstr>
      <vt:lpstr>Hybrid Feature Construction </vt:lpstr>
      <vt:lpstr>LightGBM Meta-Model</vt:lpstr>
      <vt:lpstr>Hyperparameter Optimisation with Optuna</vt:lpstr>
      <vt:lpstr>Hyperparameter Optimisation with Optuna</vt:lpstr>
      <vt:lpstr>Results (5-Fold CV)</vt:lpstr>
      <vt:lpstr>Ensemble Calibration</vt:lpstr>
      <vt:lpstr>Robustness &amp; Generalisation</vt:lpstr>
      <vt:lpstr>Challenges and Solutions</vt:lpstr>
      <vt:lpstr>Scalability &amp; Efficiency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52</cp:revision>
  <dcterms:modified xsi:type="dcterms:W3CDTF">2025-11-09T21:43:57Z</dcterms:modified>
</cp:coreProperties>
</file>